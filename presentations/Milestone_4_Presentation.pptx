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493776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Segoe UI"/>
              </a:rPr>
              <a:t>MILESTONE 4 • WEEK 7 &amp; 8 FINAL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1F5F9"/>
                </a:solidFill>
                <a:latin typeface="Segoe UI"/>
              </a:rPr>
              <a:t>Milestone 4 – Testing, Deployment &amp; Documentation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93C5FD"/>
                </a:solidFill>
                <a:latin typeface="Segoe UI"/>
              </a:rPr>
              <a:t>VisionInspect AI – Manufacturing Defect Detection &amp; Quality Inspection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50592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450592"/>
            <a:ext cx="91440" cy="1737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15184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1. Testing &amp; Model Validation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Empirical validation of YOLOv8 defect detection accuracy (74.24% Precision, 64.13% F1) &amp; 25/25 automated pytest tests passing.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450592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2450592"/>
            <a:ext cx="91440" cy="1737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15184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2. CV &amp; Inspection Optimization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Implemented NMS duplicate suppression (IoU 0.65), pre-inference image quality gate, and sub-60ms tensor forward pass.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2450592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37576" y="2450592"/>
            <a:ext cx="91440" cy="1737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615184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3. Dashboard &amp; Reporting Upgrades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Engineered Next.js 16 interactive canvas visualizer, 4-state quality trend analytics, and downloadable CSV/PDF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89120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389120"/>
            <a:ext cx="91440" cy="1737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553712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4. Docker Containerization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Built multi-stage Dockerfiles for FastAPI backend and Next.js frontend with unified docker-compose.yml service topology.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4389120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61688" y="4389120"/>
            <a:ext cx="91440" cy="1737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4553712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5. Render Cloud Deployment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Live multi-service cloud deployment on Render (vision-ai-inspect.onrender.com) with PostgreSQL and /health check probe.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4389120"/>
            <a:ext cx="3456432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4389120"/>
            <a:ext cx="91440" cy="17373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553712"/>
            <a:ext cx="31363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6. Technical Documentation &amp; Demo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  <a:latin typeface="Segoe UI"/>
              </a:rPr>
              <a:t>Prepared comprehensive 917 KB technical documentation PDF, 7 engineering manuals, and end-to-end verified demo 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Academic Milestone Evaluation • Week 7 &amp; 8 Deliverables • Strictly Milestone 4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Milestone 4 Key Activities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End-to-end engineering roadmap: Testing → Optimization → Dashboard/Reporting → Docker → Cloud Deployment → Documentation →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3493008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1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Testing &amp; Model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66544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Empirical validation across 1,382 MVTec AD defect samples.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74.24% detection precision and 64.13% F1 score verified.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25/25 automated pytest tests passing (100% test pass rate).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Inspection pipeline, API integration &amp; decision-engine 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44752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44752"/>
            <a:ext cx="3493008" cy="5669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2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Model &amp; Inspection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66544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Authoritative 73-class taxonomy resolved from model metadata.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NMS Duplicate Filtering (IoU 0.65) for clean bounding boxes.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Image quality pre-check for blur, brightness &amp; contrast.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Sub-60ms tensor forward pass for high-speed inspection.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44752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444752"/>
            <a:ext cx="3493008" cy="5669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3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Dashboard &amp; Reporting 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066544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Responsive Next.js 16 standalone UI with 13 compiled routes.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Interactive canvas visualizer with bounding box rendering.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4-Color quality analytics (PASS/FAIL/REVIEW/REWORK).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Automated executive summary &amp; itemized CSV/PDF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86200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3493008" cy="5669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4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Docker Containerization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07992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Pipeline: Application → Docker Container → Cloud Environment.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Multi-stage backend Dockerfile (Python 3.11-slim + OpenCV).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Frontend Dockerfile with standalone Next.js 16 runner.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Unified docker-compose.yml with automated container HEALTHCHECK.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886200"/>
            <a:ext cx="3493008" cy="56692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5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Render 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4507992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GitHub → Build / Deploy → Cloud Environment → Render → Live App.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Live cloud hosting at https://vision-ai-inspect.onrender.com.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Live /health check endpoint verified with HTTP 200 OK.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Managed PostgreSQL database with persistent image storage.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49300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3886200"/>
            <a:ext cx="3493008" cy="566928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/>
          <a:lstStyle/>
          <a:p>
            <a:pPr algn="ctr"/>
            <a:r>
              <a:rPr sz="900" b="1">
                <a:solidFill>
                  <a:srgbClr val="E0E7FF"/>
                </a:solidFill>
                <a:latin typeface="Segoe UI"/>
              </a:rPr>
              <a:t>ACTIVITY 6 • </a:t>
            </a:r>
            <a:r>
              <a:rPr sz="1100" b="1">
                <a:solidFill>
                  <a:srgbClr val="FFFFFF"/>
                </a:solidFill>
                <a:latin typeface="Segoe UI"/>
              </a:rPr>
              <a:t>Documentation &amp;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507992"/>
            <a:ext cx="323697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Technical Documentation Prepared: 917 KB Project Documentation PDF.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Architecture, database schema, APIs, and ML pipeline documented.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9-step complete end-to-end verified demonstration workflow.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• 11/11 E2E requirements &amp; 25/25 pytest tests passing (100%).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Testing, Accuracy &amp; Classification Validation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Empirical validation metrics on 1,382 samples, authoritative 73-class resolution &amp; automated test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2066543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Segoe UI"/>
              </a:rPr>
              <a:t>1,382 SAMPLES
</a:t>
            </a:r>
            <a:r>
              <a:rPr sz="850">
                <a:solidFill>
                  <a:srgbClr val="475569"/>
                </a:solidFill>
                <a:latin typeface="Segoe UI"/>
              </a:rPr>
              <a:t>15 MVTec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5495" y="1389888"/>
            <a:ext cx="2066543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0956A"/>
                </a:solidFill>
                <a:latin typeface="Segoe UI"/>
              </a:rPr>
              <a:t>74.24% PRECISION
</a:t>
            </a:r>
            <a:r>
              <a:rPr sz="850">
                <a:solidFill>
                  <a:srgbClr val="475569"/>
                </a:solidFill>
                <a:latin typeface="Segoe UI"/>
              </a:rPr>
              <a:t>True Defect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6630" y="1389888"/>
            <a:ext cx="2066543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Segoe UI"/>
              </a:rPr>
              <a:t>64.13% F1-SCORE
</a:t>
            </a:r>
            <a:r>
              <a:rPr sz="850">
                <a:solidFill>
                  <a:srgbClr val="475569"/>
                </a:solidFill>
                <a:latin typeface="Segoe UI"/>
              </a:rPr>
              <a:t>Empirical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5" y="1389888"/>
            <a:ext cx="2066543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Segoe UI"/>
              </a:rPr>
              <a:t>25 / 25 TESTS (100%)
</a:t>
            </a:r>
            <a:r>
              <a:rPr sz="850">
                <a:solidFill>
                  <a:srgbClr val="475569"/>
                </a:solidFill>
                <a:latin typeface="Segoe UI"/>
              </a:rPr>
              <a:t>Pytest Automated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18900" y="1389888"/>
            <a:ext cx="2066543" cy="65836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97706"/>
                </a:solidFill>
                <a:latin typeface="Segoe UI"/>
              </a:rPr>
              <a:t>11/11 E2E MET (100%)
</a:t>
            </a:r>
            <a:r>
              <a:rPr sz="850">
                <a:solidFill>
                  <a:srgbClr val="475569"/>
                </a:solidFill>
                <a:latin typeface="Segoe UI"/>
              </a:rPr>
              <a:t>Milestone 4 Objective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12848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212848"/>
            <a:ext cx="537667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Defect Detection Accuracy &amp; Classification Quality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Empirical Validation Results: </a:t>
            </a:r>
            <a:r>
              <a:rPr sz="950">
                <a:solidFill>
                  <a:srgbClr val="475569"/>
                </a:solidFill>
                <a:latin typeface="Segoe UI"/>
              </a:rPr>
              <a:t>Evaluated on 1,382 industrial images (381 normal, 1,001 defect samples) achieving 74.24% precision, 56.44% recall, and 64.13% F1 score.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Classification Quality by Category: </a:t>
            </a:r>
            <a:r>
              <a:rPr sz="950">
                <a:solidFill>
                  <a:srgbClr val="475569"/>
                </a:solidFill>
                <a:latin typeface="Segoe UI"/>
              </a:rPr>
              <a:t>High detection accuracy across product lines: Bottle (98.46%), Pill (76.00%), Cable (75.21%), Capsule (74.49%), Leather (71.43%), Hazelnut (66.67%).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Authoritative 73-Class Taxonomy: </a:t>
            </a:r>
            <a:r>
              <a:rPr sz="950">
                <a:solidFill>
                  <a:srgbClr val="475569"/>
                </a:solidFill>
                <a:latin typeface="Segoe UI"/>
              </a:rPr>
              <a:t>Defect classes resolved via class_mapping.json across 15 products directly from model.names metadata without heuristic guessing.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Decoupled Inspection Schema: </a:t>
            </a:r>
            <a:r>
              <a:rPr sz="950">
                <a:solidFill>
                  <a:srgbClr val="475569"/>
                </a:solidFill>
                <a:latin typeface="Segoe UI"/>
              </a:rPr>
              <a:t>Clean separation of category, confidence_score, severity_score, and quality_decision.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Strict Quality Classification: </a:t>
            </a:r>
            <a:r>
              <a:rPr sz="950">
                <a:solidFill>
                  <a:srgbClr val="475569"/>
                </a:solidFill>
                <a:latin typeface="Segoe UI"/>
              </a:rPr>
              <a:t>Zero tolerance for ambiguous labels (rejection of UNKNOWN, OTHER, DEFECT, UNCLASSIFIED), ensuring robust automated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12848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212848"/>
            <a:ext cx="5376672" cy="438912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End-to-End Testing, Decision Engine &amp; API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Automated Pytest Suite (25/25 Passed): </a:t>
            </a:r>
            <a:r>
              <a:rPr sz="950">
                <a:solidFill>
                  <a:srgbClr val="475569"/>
                </a:solidFill>
                <a:latin typeface="Segoe UI"/>
              </a:rPr>
              <a:t>Comprehensive API &amp; integration testing covering JWT auth, RBAC roles, multi-factor severity math, and report generation.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✔ Decision-Engine Testing: </a:t>
            </a:r>
            <a:r>
              <a:rPr sz="950">
                <a:solidFill>
                  <a:srgbClr val="475569"/>
                </a:solidFill>
                <a:latin typeface="Segoe UI"/>
              </a:rPr>
              <a:t>Validated deterministic 4-state routing (PASS, FAIL, REVIEW, REWORK) based on defect hazard types, severity score thresholds, and confidence rules.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✔ Inspection Pipeline Testing: </a:t>
            </a:r>
            <a:r>
              <a:rPr sz="950">
                <a:solidFill>
                  <a:srgbClr val="475569"/>
                </a:solidFill>
                <a:latin typeface="Segoe UI"/>
              </a:rPr>
              <a:t>Verified full ingestion pipeline, image quality pre-screening, YOLOv8 inference, bounding box mapping, and PostgreSQL persistence.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✔ Manual Override &amp; Audit Log: </a:t>
            </a:r>
            <a:r>
              <a:rPr sz="950">
                <a:solidFill>
                  <a:srgbClr val="475569"/>
                </a:solidFill>
                <a:latin typeface="Segoe UI"/>
              </a:rPr>
              <a:t>Validated supervisor override endpoint (/api/inspections/{id}/override) rejecting invalid labels with HTTP 400 and full audit trail.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✔ 11/11 Milestone 4 E2E Compliance: </a:t>
            </a:r>
            <a:r>
              <a:rPr sz="950">
                <a:solidFill>
                  <a:srgbClr val="475569"/>
                </a:solidFill>
                <a:latin typeface="Segoe UI"/>
              </a:rPr>
              <a:t>100% compliance verified in verify_milestone4_e2e.py across all functional requirements without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Inspection Performance, Dashboard &amp; Reporting Improvements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Computer vision optimizations, Next.js 16 UI responsiveness &amp; executive report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2633472" cy="621792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PASS (Approved)
</a:t>
            </a:r>
            <a:r>
              <a:rPr sz="850">
                <a:solidFill>
                  <a:srgbClr val="F1F5F9"/>
                </a:solidFill>
                <a:latin typeface="Segoe UI"/>
              </a:rPr>
              <a:t>Zero defects / within spec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89888"/>
            <a:ext cx="2633472" cy="6217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FAIL (Quarantined)
</a:t>
            </a:r>
            <a:r>
              <a:rPr sz="850">
                <a:solidFill>
                  <a:srgbClr val="F1F5F9"/>
                </a:solidFill>
                <a:latin typeface="Segoe UI"/>
              </a:rPr>
              <a:t>Fatal flaw / Critical severity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89888"/>
            <a:ext cx="2633472" cy="6217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REVIEW (Manual QA)
</a:t>
            </a:r>
            <a:r>
              <a:rPr sz="850">
                <a:solidFill>
                  <a:srgbClr val="F1F5F9"/>
                </a:solidFill>
                <a:latin typeface="Segoe UI"/>
              </a:rPr>
              <a:t>Confidence &lt;70% / Low cert.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89888"/>
            <a:ext cx="2633472" cy="6217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REWORK (Reprocessing)
</a:t>
            </a:r>
            <a:r>
              <a:rPr sz="850">
                <a:solidFill>
                  <a:srgbClr val="F1F5F9"/>
                </a:solidFill>
                <a:latin typeface="Segoe UI"/>
              </a:rPr>
              <a:t>Correctable surface flaw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76272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176272"/>
            <a:ext cx="537667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CV Model Optimization &amp; Inspection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NMS Duplicate Suppression: </a:t>
            </a:r>
            <a:r>
              <a:rPr sz="950">
                <a:solidFill>
                  <a:srgbClr val="475569"/>
                </a:solidFill>
                <a:latin typeface="Segoe UI"/>
              </a:rPr>
              <a:t>Implemented IoU-based bounding box deduplication (filter_duplicate_detections at 0.65 threshold) to eliminate redundant overlapping boxes.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Pre-Inference Image Quality Gate: </a:t>
            </a:r>
            <a:r>
              <a:rPr sz="950">
                <a:solidFill>
                  <a:srgbClr val="475569"/>
                </a:solidFill>
                <a:latin typeface="Segoe UI"/>
              </a:rPr>
              <a:t>Automated analysis of image blur (Laplacian variance), brightness, and contrast; automatically routes degraded inputs to REVIEW.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Sub-60ms Forward Pass Execution: </a:t>
            </a:r>
            <a:r>
              <a:rPr sz="950">
                <a:solidFill>
                  <a:srgbClr val="475569"/>
                </a:solidFill>
                <a:latin typeface="Segoe UI"/>
              </a:rPr>
              <a:t>Optimized PyTorch YOLOv8 tensor forward pass (~25-45ms CPU / ~6-12ms GPU, well within 100ms industrial line cycle time limit).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Multi-Factor Severity Formulation: </a:t>
            </a:r>
            <a:r>
              <a:rPr sz="950">
                <a:solidFill>
                  <a:srgbClr val="475569"/>
                </a:solidFill>
                <a:latin typeface="Segoe UI"/>
              </a:rPr>
              <a:t>Mathematical formula: Severity = (Size*30%) + (Location*25%) + (Type*25%) + (Confidence*20%), mapping to Critical, High, Medium, Low.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Trained Model Weights Integrity: </a:t>
            </a:r>
            <a:r>
              <a:rPr sz="950">
                <a:solidFill>
                  <a:srgbClr val="475569"/>
                </a:solidFill>
                <a:latin typeface="Segoe UI"/>
              </a:rPr>
              <a:t>Verified preservation of pre-trained YOLOv8 defect detection weights at ml/models/best.pt (5.96 MB) with deterministic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76272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176272"/>
            <a:ext cx="5376672" cy="43891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Dashboard Responsiveness, Quality Analytics &amp;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06624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10956A"/>
                </a:solidFill>
                <a:latin typeface="Segoe UI"/>
              </a:rPr>
              <a:t>✔ Next.js 16 Standalone Dashboard: </a:t>
            </a:r>
            <a:r>
              <a:rPr sz="950">
                <a:solidFill>
                  <a:srgbClr val="475569"/>
                </a:solidFill>
                <a:latin typeface="Segoe UI"/>
              </a:rPr>
              <a:t>Engineered responsive UI with 13 compiled pre-rendered routes (/dashboard, /inspections, /analytics, /reports, /batches, etc.) and sub-100ms transitions.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956A"/>
                </a:solidFill>
                <a:latin typeface="Segoe UI"/>
              </a:rPr>
              <a:t>✔ Interactive Inspection Visualizer: </a:t>
            </a:r>
            <a:r>
              <a:rPr sz="950">
                <a:solidFill>
                  <a:srgbClr val="475569"/>
                </a:solidFill>
                <a:latin typeface="Segoe UI"/>
              </a:rPr>
              <a:t>Dynamic HTML5 canvas rendering bounding boxes with color-coded defect tags, confidence percentages, and multi-factor severity scores.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956A"/>
                </a:solidFill>
                <a:latin typeface="Segoe UI"/>
              </a:rPr>
              <a:t>✔ 4-Color Quality Trend Analytics: </a:t>
            </a:r>
            <a:r>
              <a:rPr sz="950">
                <a:solidFill>
                  <a:srgbClr val="475569"/>
                </a:solidFill>
                <a:latin typeface="Segoe UI"/>
              </a:rPr>
              <a:t>Real-time KPI aggregation displaying Pass Rate (Emerald), Fail Rate (Red), Review Rate (Amber), and Rework Rate (Blue).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956A"/>
                </a:solidFill>
                <a:latin typeface="Segoe UI"/>
              </a:rPr>
              <a:t>✔ Automated CSV/PDF Quality Reports: </a:t>
            </a:r>
            <a:r>
              <a:rPr sz="950">
                <a:solidFill>
                  <a:srgbClr val="475569"/>
                </a:solidFill>
                <a:latin typeface="Segoe UI"/>
              </a:rPr>
              <a:t>One-click generation of production reports (/api/reports/generate) featuring executive KPI summaries and itemized inspection audit logs.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0956A"/>
                </a:solidFill>
                <a:latin typeface="Segoe UI"/>
              </a:rPr>
              <a:t>✔ Platform Usability Improvements: </a:t>
            </a:r>
            <a:r>
              <a:rPr sz="950">
                <a:solidFill>
                  <a:srgbClr val="475569"/>
                </a:solidFill>
                <a:latin typeface="Segoe UI"/>
              </a:rPr>
              <a:t>Clean operator interface, instant visual feedback, toast status notifications, and streamlined inspection submission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Docker &amp; Render Cloud Deployment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Two-tier deployment architecture: Multi-stage Docker containerization and live Render Cloud hosting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11002975" cy="65836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490472"/>
            <a:ext cx="199339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1. Application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490472"/>
            <a:ext cx="1993392" cy="43891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2. Docker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3208" y="1490472"/>
            <a:ext cx="199339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3. Cloud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7768" y="1490472"/>
            <a:ext cx="1993392" cy="43891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4. Render 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82328" y="1490472"/>
            <a:ext cx="1993392" cy="438912"/>
          </a:xfrm>
          <a:prstGeom prst="roundRect">
            <a:avLst/>
          </a:prstGeom>
          <a:solidFill>
            <a:srgbClr val="1095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5. Live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76272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176272"/>
            <a:ext cx="537667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Docker Containerization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06624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Application → Docker → Cloud: </a:t>
            </a:r>
            <a:r>
              <a:rPr sz="950">
                <a:solidFill>
                  <a:srgbClr val="475569"/>
                </a:solidFill>
                <a:latin typeface="Segoe UI"/>
              </a:rPr>
              <a:t>Containerization architecture packaging backend, frontend, and database services for reproducible multi-environment deployment.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Multi-Stage Backend Dockerfile: </a:t>
            </a:r>
            <a:r>
              <a:rPr sz="950">
                <a:solidFill>
                  <a:srgbClr val="475569"/>
                </a:solidFill>
                <a:latin typeface="Segoe UI"/>
              </a:rPr>
              <a:t>Built on python:3.11-slim utilizing a two-stage builder pattern to compile C-dependencies (psycopg2, OpenCV) and slim down runtime.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Frontend Standalone Dockerfile: </a:t>
            </a:r>
            <a:r>
              <a:rPr sz="950">
                <a:solidFill>
                  <a:srgbClr val="475569"/>
                </a:solidFill>
                <a:latin typeface="Segoe UI"/>
              </a:rPr>
              <a:t>Next.js 16 containerized with Node.js 20 using standalone output, optimizing image layer size and runtime cold-start latency.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Multi-Container Docker Compose: </a:t>
            </a:r>
            <a:r>
              <a:rPr sz="950">
                <a:solidFill>
                  <a:srgbClr val="475569"/>
                </a:solidFill>
                <a:latin typeface="Segoe UI"/>
              </a:rPr>
              <a:t>docker-compose.yml orchestrates the 3 core platform tiers: PostgreSQL 15 database, FastAPI Python engine, and Next.js frontend.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Container Health Monitoring: </a:t>
            </a:r>
            <a:r>
              <a:rPr sz="950">
                <a:solidFill>
                  <a:srgbClr val="475569"/>
                </a:solidFill>
                <a:latin typeface="Segoe UI"/>
              </a:rPr>
              <a:t>HEALTHCHECK configured to probe http://localhost:8000/health every 30s with 3 retries, ensuring container auto-recovery.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76272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176272"/>
            <a:ext cx="5376672" cy="438912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Live Cloud Deployment – Render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06624"/>
            <a:ext cx="5010912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065F46"/>
                </a:solidFill>
                <a:latin typeface="Segoe UI"/>
              </a:rPr>
              <a:t>Render Cloud Production URL:
</a:t>
            </a:r>
            <a:r>
              <a:rPr sz="1250" b="1">
                <a:solidFill>
                  <a:srgbClr val="047857"/>
                </a:solidFill>
                <a:latin typeface="Segoe UI"/>
              </a:rPr>
              <a:t>https://vision-ai-inspect.onrender.com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38144"/>
            <a:ext cx="5010912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✔ GitHub → Build → Cloud → Live App: </a:t>
            </a:r>
            <a:r>
              <a:rPr sz="950">
                <a:solidFill>
                  <a:srgbClr val="475569"/>
                </a:solidFill>
                <a:latin typeface="Segoe UI"/>
              </a:rPr>
              <a:t>Continuous deployment pipeline triggering automated build and containerization on Render upon repository commit.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✔ Verified /health Check Probe: </a:t>
            </a:r>
            <a:r>
              <a:rPr sz="950">
                <a:solidFill>
                  <a:srgbClr val="475569"/>
                </a:solidFill>
                <a:latin typeface="Segoe UI"/>
              </a:rPr>
              <a:t>Live GET /health endpoint returning HTTP 200 OK ({"status": "ok"}) for cloud liveness and uptime verification.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✔ Multi-Service render.yaml Blueprint: </a:t>
            </a:r>
            <a:r>
              <a:rPr sz="950">
                <a:solidFill>
                  <a:srgbClr val="475569"/>
                </a:solidFill>
                <a:latin typeface="Segoe UI"/>
              </a:rPr>
              <a:t>Configured FastAPI Python service, Next.js 16 frontend service, and managed PostgreSQL cloud database.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✔ Managed PostgreSQL Cloud Database: </a:t>
            </a:r>
            <a:r>
              <a:rPr sz="950">
                <a:solidFill>
                  <a:srgbClr val="475569"/>
                </a:solidFill>
                <a:latin typeface="Segoe UI"/>
              </a:rPr>
              <a:t>Cloud-hosted relational persistence for inspection telemetry, defect coordinates, and operator override audit logs.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✔ Zero-CORS &amp; Dynamic Routing: </a:t>
            </a:r>
            <a:r>
              <a:rPr sz="950">
                <a:solidFill>
                  <a:srgbClr val="475569"/>
                </a:solidFill>
                <a:latin typeface="Segoe UI"/>
              </a:rPr>
              <a:t>FastAPI backend bound to Next.js API gateway with secure JWT authentication (HS256, 1440 min expiry).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Complete Platform Demonstration &amp; Integration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Verified end-to-end operational workflow from user authentication to cloud quality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1100297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99616"/>
            <a:ext cx="1078992" cy="457200"/>
          </a:xfrm>
          <a:prstGeom prst="roundRect">
            <a:avLst/>
          </a:prstGeom>
          <a:solidFill>
            <a:srgbClr val="1095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1. Login (RBAC)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5376" y="1499616"/>
            <a:ext cx="1078992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0F172A"/>
                </a:solidFill>
                <a:latin typeface="Segoe UI"/>
              </a:rPr>
              <a:t>2. Upload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1499616"/>
            <a:ext cx="1078992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3. AI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499616"/>
            <a:ext cx="1078992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4.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99616"/>
            <a:ext cx="1078992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5. Severity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1499616"/>
            <a:ext cx="1078992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6. 4-State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1499616"/>
            <a:ext cx="1078992" cy="457200"/>
          </a:xfrm>
          <a:prstGeom prst="roundRect">
            <a:avLst/>
          </a:prstGeom>
          <a:solidFill>
            <a:srgbClr val="1095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7. Dashboard KPI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1499616"/>
            <a:ext cx="1078992" cy="457200"/>
          </a:xfrm>
          <a:prstGeom prst="roundRect">
            <a:avLst/>
          </a:prstGeom>
          <a:solidFill>
            <a:srgbClr val="1095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8. CSV/PDF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14432" y="1499616"/>
            <a:ext cx="1078992" cy="457200"/>
          </a:xfrm>
          <a:prstGeom prst="roundRect">
            <a:avLst/>
          </a:prstGeom>
          <a:solidFill>
            <a:srgbClr val="1095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9. Live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12848"/>
            <a:ext cx="537667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109728" cy="17190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359152"/>
            <a:ext cx="5029200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Segoe UI"/>
              </a:rPr>
              <a:t>PHASE 1: AUTHENTICATION &amp; IMAGE INGESTION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Operator or Auditor logs in via secure JWT endpoint. Inspection image is uploaded via Next.js interface and pre-screened by automated image quality analysis (blur, brightness, contrast) before inference.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12848"/>
            <a:ext cx="537667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212848"/>
            <a:ext cx="109728" cy="17190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5029200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PHASE 2: AI DEFECT LOCALIZATION &amp; 73-CLASS MAPPING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PyTorch YOLOv8 tensor engine executes forward pass (&lt;60ms). Bounding boxes are filtered via NMS duplicate suppression (IoU 0.65) and mapped to authoritative 73-class defect taxonomy without guessing.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096512"/>
            <a:ext cx="537667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4096512"/>
            <a:ext cx="109728" cy="17190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42816"/>
            <a:ext cx="5029200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Segoe UI"/>
              </a:rPr>
              <a:t>PHASE 3: MULTI-FACTOR SEVERITY &amp; 4-STATE DECISION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Severity calculation engine evaluates Size (30%), Location (25%), Defect Type (25%), and Confidence (20%). Decision engine deterministically routes part into PASS, FAIL, REVIEW, or REWORK.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96512"/>
            <a:ext cx="537667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4096512"/>
            <a:ext cx="109728" cy="1719072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242816"/>
            <a:ext cx="5029200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956A"/>
                </a:solidFill>
                <a:latin typeface="Segoe UI"/>
              </a:rPr>
              <a:t>PHASE 4: REAL-TIME ANALYTICS, OVERRIDE &amp; REPORTING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  <a:latin typeface="Segoe UI"/>
              </a:rPr>
              <a:t>Inspection record persists in PostgreSQL. Dashboard updates live 4-color quality trend charts. Supervisors execute manual overrides with audit logging; executive CSV/PDF reports are generated on demand.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897880"/>
            <a:ext cx="11002975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EF08A"/>
                </a:solidFill>
                <a:latin typeface="Segoe UI"/>
              </a:rPr>
              <a:t>★ Live Demonstration Verified: Full inspection lifecycle validated from image upload to cloud database persistence and live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[MILESTONE 4]  </a:t>
            </a:r>
            <a:r>
              <a:rPr sz="2200" b="1">
                <a:solidFill>
                  <a:srgbClr val="0F172A"/>
                </a:solidFill>
                <a:latin typeface="Segoe UI"/>
              </a:rPr>
              <a:t>Milestone 4 Outcomes &amp; Final Deliverables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Summary of completed milestone achievements, verified deliverables &amp; technical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10029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76672" cy="438912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Official Expected Outcomes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Gain Deployment &amp; Testing Experience: </a:t>
            </a:r>
            <a:r>
              <a:rPr sz="950">
                <a:solidFill>
                  <a:srgbClr val="475569"/>
                </a:solidFill>
                <a:latin typeface="Segoe UI"/>
              </a:rPr>
              <a:t>Mastered multi-stage Docker containerization, automated pytest test suite (25/25 passed), and Render cloud operations.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Improve Accuracy &amp; Platform Usability: </a:t>
            </a:r>
            <a:r>
              <a:rPr sz="950">
                <a:solidFill>
                  <a:srgbClr val="475569"/>
                </a:solidFill>
                <a:latin typeface="Segoe UI"/>
              </a:rPr>
              <a:t>Empirical validation (74.24% precision, 64.13% F1 score) on 1,382 samples with sub-60ms optimized latency and responsive Next.js 16 UI.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Complete Live Deployment: </a:t>
            </a:r>
            <a:r>
              <a:rPr sz="950">
                <a:solidFill>
                  <a:srgbClr val="475569"/>
                </a:solidFill>
                <a:latin typeface="Segoe UI"/>
              </a:rPr>
              <a:t>Multi-service production platform deployed on Render (vision-ai-inspect.onrender.com) with PostgreSQL and verified /health probe.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Complete Platform Demonstration: </a:t>
            </a:r>
            <a:r>
              <a:rPr sz="950">
                <a:solidFill>
                  <a:srgbClr val="475569"/>
                </a:solidFill>
                <a:latin typeface="Segoe UI"/>
              </a:rPr>
              <a:t>End-to-end verified 9-step demonstration workflow from JWT login to automated executive CSV/PDF quality reports.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Technical Documentation Prepared: </a:t>
            </a:r>
            <a:r>
              <a:rPr sz="950">
                <a:solidFill>
                  <a:srgbClr val="475569"/>
                </a:solidFill>
                <a:latin typeface="Segoe UI"/>
              </a:rPr>
              <a:t>Prepared comprehensive 917 KB Project Documentation PDF covering system architecture, ML pipeline, database schema, APIs, and deployment.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65F46"/>
                </a:solidFill>
                <a:latin typeface="Segoe UI"/>
              </a:rPr>
              <a:t>✔ Professional Milestone Presentation: </a:t>
            </a:r>
            <a:r>
              <a:rPr sz="950">
                <a:solidFill>
                  <a:srgbClr val="475569"/>
                </a:solidFill>
                <a:latin typeface="Segoe UI"/>
              </a:rPr>
              <a:t>Delivered final 7-slide academic milestone presentation structured strictly on Week 7 &amp; 8 deliverables.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76672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7667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   Technical Documentation &amp; System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5010912" cy="3538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2563EB"/>
                </a:solidFill>
                <a:latin typeface="Segoe UI"/>
              </a:rPr>
              <a:t>✔ Technical Documentation Prepared: </a:t>
            </a:r>
            <a:r>
              <a:rPr sz="950">
                <a:solidFill>
                  <a:srgbClr val="475569"/>
                </a:solidFill>
                <a:latin typeface="Segoe UI"/>
              </a:rPr>
              <a:t>Complete 917 KB Project Documentation PDF (VisionInspect_AI_Project_Documentation_Final.pdf) prepared with 15+ comprehensive technical sections.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563EB"/>
                </a:solidFill>
                <a:latin typeface="Segoe UI"/>
              </a:rPr>
              <a:t>✔ System Architecture &amp; Implementation: </a:t>
            </a:r>
            <a:r>
              <a:rPr sz="950">
                <a:solidFill>
                  <a:srgbClr val="475569"/>
                </a:solidFill>
                <a:latin typeface="Segoe UI"/>
              </a:rPr>
              <a:t>Full system topology, database ER models, and security protocols documented across 7 engineering manuals in /docs.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2563EB"/>
                </a:solidFill>
                <a:latin typeface="Segoe UI"/>
              </a:rPr>
              <a:t>✔ Testing &amp; Deployment Documented: </a:t>
            </a:r>
            <a:r>
              <a:rPr sz="950">
                <a:solidFill>
                  <a:srgbClr val="475569"/>
                </a:solidFill>
                <a:latin typeface="Segoe UI"/>
              </a:rPr>
              <a:t>Pytest validation suite, Docker multi-stage build instructions, and Render cloud configuration guides fully documented.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➔ Edge AI Hardware Acceleration (Roadmap): </a:t>
            </a:r>
            <a:r>
              <a:rPr sz="950">
                <a:solidFill>
                  <a:srgbClr val="475569"/>
                </a:solidFill>
                <a:latin typeface="Segoe UI"/>
              </a:rPr>
              <a:t>TensorRT / OpenVINO optimization planned for deployment on NVIDIA Jetson industrial edge boxes.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D4ED8"/>
                </a:solidFill>
                <a:latin typeface="Segoe UI"/>
              </a:rPr>
              <a:t>➔ Factory Automation &amp; PLC Integration (Roadmap): </a:t>
            </a:r>
            <a:r>
              <a:rPr sz="950">
                <a:solidFill>
                  <a:srgbClr val="475569"/>
                </a:solidFill>
                <a:latin typeface="Segoe UI"/>
              </a:rPr>
              <a:t>GigE Vision camera integration and OPC-UA / Modbus diverter arm triggering for automated line rejection.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715000"/>
            <a:ext cx="11002975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93C5FD"/>
                </a:solidFill>
                <a:latin typeface="Segoe UI"/>
              </a:rPr>
              <a:t>“Milestone 4 successfully completes the testing, containerization, cloud deployment, and professional documentation of VisionInspect AI.”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