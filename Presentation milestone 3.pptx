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handoutMasterIdLst>
    <p:handoutMasterId r:id="rId9"/>
  </p:handoutMasterIdLst>
  <p:sldIdLst>
    <p:sldId id="256" r:id="rId2"/>
    <p:sldId id="257" r:id="rId3"/>
    <p:sldId id="258" r:id="rId4"/>
    <p:sldId id="259" r:id="rId5"/>
    <p:sldId id="260" r:id="rId6"/>
    <p:sldId id="262" r:id="rId7"/>
    <p:sldId id="261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ramya koyyada" initials="rk" lastIdx="1" clrIdx="0">
    <p:extLst>
      <p:ext uri="{19B8F6BF-5375-455C-9EA6-DF929625EA0E}">
        <p15:presenceInfo xmlns:p15="http://schemas.microsoft.com/office/powerpoint/2012/main" userId="7e359fb68082e2db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713" autoAdjust="0"/>
  </p:normalViewPr>
  <p:slideViewPr>
    <p:cSldViewPr snapToGrid="0" snapToObjects="1">
      <p:cViewPr varScale="1">
        <p:scale>
          <a:sx n="91" d="100"/>
          <a:sy n="91" d="100"/>
        </p:scale>
        <p:origin x="322" y="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 snapToObjects="1">
      <p:cViewPr varScale="1">
        <p:scale>
          <a:sx n="62" d="100"/>
          <a:sy n="62" d="100"/>
        </p:scale>
        <p:origin x="3226" y="77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commentAuthors" Target="commentAuthors.xml"/><Relationship Id="rId4" Type="http://schemas.openxmlformats.org/officeDocument/2006/relationships/slide" Target="slides/slide3.xml"/><Relationship Id="rId9" Type="http://schemas.openxmlformats.org/officeDocument/2006/relationships/handoutMaster" Target="handoutMasters/handoutMaster1.xml"/><Relationship Id="rId14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AF7088C-C0CB-F196-3A10-EF81518A9E99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EBF2E14-98F6-1270-8AFB-6C5E4C433981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AC5F5D-374D-478D-B0C7-7684C687CE4F}" type="datetimeFigureOut">
              <a:rPr lang="en-IN" smtClean="0"/>
              <a:t>27-08-2026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6CAE8B5-C682-BEDF-562E-BD5A25739B4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205B0E2-31E9-3409-018D-CCC8E6480FB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F28448E-6C8B-46B1-935A-929AFE97883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639370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3" name="Connector 2"/>
          <p:cNvCxnSpPr/>
          <p:nvPr/>
        </p:nvCxnSpPr>
        <p:spPr>
          <a:xfrm>
            <a:off x="8229600" y="594360"/>
            <a:ext cx="0" cy="553212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>
            <a:off x="8732520" y="594360"/>
            <a:ext cx="0" cy="553212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9235440" y="594360"/>
            <a:ext cx="0" cy="553212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9738360" y="594360"/>
            <a:ext cx="0" cy="553212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10241280" y="594360"/>
            <a:ext cx="0" cy="553212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98079" y="105156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7498079" y="155448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7498079" y="205740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7498079" y="256032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498079" y="306324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7498079" y="356616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7498079" y="406908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7498079" y="4572000"/>
            <a:ext cx="4160521" cy="0"/>
          </a:xfrm>
          <a:prstGeom prst="line">
            <a:avLst/>
          </a:prstGeom>
          <a:ln w="8890">
            <a:solidFill>
              <a:srgbClr val="18243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818120" y="749808"/>
            <a:ext cx="2834640" cy="21488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200" b="1" i="0">
                <a:solidFill>
                  <a:srgbClr val="17253E"/>
                </a:solidFill>
                <a:latin typeface="Aptos"/>
              </a:rPr>
              <a:t>03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58368" y="685800"/>
            <a:ext cx="1874519" cy="256032"/>
          </a:xfrm>
          <a:prstGeom prst="roundRect">
            <a:avLst/>
          </a:prstGeom>
          <a:solidFill>
            <a:srgbClr val="19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731519" y="704088"/>
            <a:ext cx="17282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6C5"/>
                </a:solidFill>
                <a:latin typeface="Aptos"/>
              </a:rPr>
              <a:t>COMPLETION UPDATE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1298448"/>
            <a:ext cx="63093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Aptos"/>
              </a:rPr>
              <a:t>VisionInspect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5800" y="2084831"/>
            <a:ext cx="5303520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43D6C5"/>
                </a:solidFill>
                <a:latin typeface="Aptos"/>
              </a:rPr>
              <a:t>Milestone 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907792"/>
            <a:ext cx="6400800" cy="32918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800" b="1" i="0">
                <a:solidFill>
                  <a:srgbClr val="C3CCDB"/>
                </a:solidFill>
                <a:latin typeface="Aptos"/>
              </a:rPr>
              <a:t>Defect Classification &amp; Manufacturing Analytics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977639"/>
            <a:ext cx="6172200" cy="4754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C3CCDB"/>
                </a:solidFill>
                <a:latin typeface="Aptos"/>
              </a:rPr>
              <a:t>Manufacturing Defect Detection &amp; Quality Inspection System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85800" y="4892040"/>
            <a:ext cx="5486400" cy="0"/>
          </a:xfrm>
          <a:prstGeom prst="line">
            <a:avLst/>
          </a:prstGeom>
          <a:ln w="12700">
            <a:solidFill>
              <a:srgbClr val="3343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704088" y="513892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A8B4C6"/>
                </a:solidFill>
                <a:latin typeface="Aptos"/>
              </a:rPr>
              <a:t>Infosys Springboard Project  •  Weeks 5–6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882127" y="3730752"/>
            <a:ext cx="3246120" cy="1572768"/>
          </a:xfrm>
          <a:prstGeom prst="roundRect">
            <a:avLst/>
          </a:prstGeom>
          <a:solidFill>
            <a:srgbClr val="121D31"/>
          </a:solidFill>
          <a:ln w="12700">
            <a:solidFill>
              <a:srgbClr val="2B3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56448" y="3986784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EA2BE"/>
                </a:solidFill>
                <a:latin typeface="Aptos"/>
              </a:rPr>
              <a:t>MILESTONE STATUS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38160" y="4325112"/>
            <a:ext cx="2377440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500" b="1" i="0">
                <a:solidFill>
                  <a:srgbClr val="43D6C5"/>
                </a:solidFill>
                <a:latin typeface="Aptos"/>
              </a:rPr>
              <a:t>COMPLETED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56448" y="4828032"/>
            <a:ext cx="2743200" cy="25603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C3CCDB"/>
                </a:solidFill>
                <a:latin typeface="Aptos"/>
              </a:rPr>
              <a:t>All required Milestone 3 deliverables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4C6"/>
                </a:solidFill>
                <a:latin typeface="Aptos"/>
              </a:rPr>
              <a:t>VISIONINSPECT AI  /  INFOSYS SPRINGBOARD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4C6"/>
                </a:solidFill>
                <a:latin typeface="Aptos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420624"/>
            <a:ext cx="1664208" cy="2560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MILESTONE 3  /  WEEKS 5–6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Aptos"/>
              </a:rPr>
              <a:t>Scope and implementation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8132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D6B82"/>
                </a:solidFill>
                <a:latin typeface="Aptos"/>
              </a:rPr>
              <a:t>Six deliverables moved the platform from defect intelligence to production-level quality insights.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1993392"/>
            <a:ext cx="31272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Oval 6"/>
          <p:cNvSpPr/>
          <p:nvPr/>
        </p:nvSpPr>
        <p:spPr>
          <a:xfrm>
            <a:off x="804671" y="2194560"/>
            <a:ext cx="420624" cy="420624"/>
          </a:xfrm>
          <a:prstGeom prst="ellipse">
            <a:avLst/>
          </a:prstGeom>
          <a:solidFill>
            <a:srgbClr val="2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804671" y="21945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53312" y="2203704"/>
            <a:ext cx="22311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Defect categorization workflows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041648" y="1993392"/>
            <a:ext cx="31272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4206240" y="2194560"/>
            <a:ext cx="420624" cy="420624"/>
          </a:xfrm>
          <a:prstGeom prst="ellipse">
            <a:avLst/>
          </a:prstGeom>
          <a:solidFill>
            <a:srgbClr val="C4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206240" y="2194560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2203704"/>
            <a:ext cx="22311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Severity scoring &amp; quality risk reports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3236976"/>
            <a:ext cx="31272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Oval 14"/>
          <p:cNvSpPr/>
          <p:nvPr/>
        </p:nvSpPr>
        <p:spPr>
          <a:xfrm>
            <a:off x="804671" y="3438144"/>
            <a:ext cx="420624" cy="420624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804671" y="34381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53312" y="3447288"/>
            <a:ext cx="22311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Quality assessment modules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41648" y="3236976"/>
            <a:ext cx="31272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Oval 18"/>
          <p:cNvSpPr/>
          <p:nvPr/>
        </p:nvSpPr>
        <p:spPr>
          <a:xfrm>
            <a:off x="4206240" y="3438144"/>
            <a:ext cx="420624" cy="420624"/>
          </a:xfrm>
          <a:prstGeom prst="ellipse">
            <a:avLst/>
          </a:prstGeom>
          <a:solidFill>
            <a:srgbClr val="5A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4206240" y="3438144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754880" y="3447288"/>
            <a:ext cx="22311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Production quality reports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0080" y="4480560"/>
            <a:ext cx="31272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804671" y="4681728"/>
            <a:ext cx="420624" cy="420624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804671" y="4681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53312" y="4690872"/>
            <a:ext cx="22311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Defect analytics dashboards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041648" y="4480560"/>
            <a:ext cx="3127248" cy="107899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Oval 26"/>
          <p:cNvSpPr/>
          <p:nvPr/>
        </p:nvSpPr>
        <p:spPr>
          <a:xfrm>
            <a:off x="4206240" y="4681728"/>
            <a:ext cx="420624" cy="420624"/>
          </a:xfrm>
          <a:prstGeom prst="ellipse">
            <a:avLst/>
          </a:prstGeom>
          <a:solidFill>
            <a:srgbClr val="C9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206240" y="4681728"/>
            <a:ext cx="420624" cy="42062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06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54880" y="4690872"/>
            <a:ext cx="2231136" cy="62179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72033"/>
                </a:solidFill>
                <a:latin typeface="Aptos"/>
              </a:rPr>
              <a:t>Trend monitoring workflows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644383" y="1993392"/>
            <a:ext cx="3858768" cy="373075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7973568" y="2340864"/>
            <a:ext cx="292608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43D6C5"/>
                </a:solidFill>
                <a:latin typeface="Aptos"/>
              </a:rPr>
              <a:t>MILESTONE 3 END STATE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55279" y="2697480"/>
            <a:ext cx="30632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From image findings
to production insight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7973568" y="3593592"/>
            <a:ext cx="3108960" cy="0"/>
          </a:xfrm>
          <a:prstGeom prst="line">
            <a:avLst/>
          </a:prstGeom>
          <a:ln w="15240">
            <a:solidFill>
              <a:srgbClr val="3042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Oval 33"/>
          <p:cNvSpPr/>
          <p:nvPr/>
        </p:nvSpPr>
        <p:spPr>
          <a:xfrm>
            <a:off x="7991856" y="3858768"/>
            <a:ext cx="201168" cy="201168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7991856" y="3858768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21040" y="3803904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7F1"/>
                </a:solidFill>
                <a:latin typeface="Aptos"/>
              </a:rPr>
              <a:t>Defect classification + analytics systems</a:t>
            </a:r>
          </a:p>
        </p:txBody>
      </p:sp>
      <p:sp>
        <p:nvSpPr>
          <p:cNvPr id="37" name="Oval 36"/>
          <p:cNvSpPr/>
          <p:nvPr/>
        </p:nvSpPr>
        <p:spPr>
          <a:xfrm>
            <a:off x="7991856" y="4352544"/>
            <a:ext cx="201168" cy="201168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7991856" y="4352544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21040" y="4297680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7F1"/>
                </a:solidFill>
                <a:latin typeface="Aptos"/>
              </a:rPr>
              <a:t>Quality control + reporting workflows</a:t>
            </a:r>
          </a:p>
        </p:txBody>
      </p:sp>
      <p:sp>
        <p:nvSpPr>
          <p:cNvPr id="40" name="Oval 39"/>
          <p:cNvSpPr/>
          <p:nvPr/>
        </p:nvSpPr>
        <p:spPr>
          <a:xfrm>
            <a:off x="7991856" y="4846320"/>
            <a:ext cx="201168" cy="201168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7991856" y="4846320"/>
            <a:ext cx="201168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21040" y="4791456"/>
            <a:ext cx="2788920" cy="29260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0" i="0">
                <a:solidFill>
                  <a:srgbClr val="E0E7F1"/>
                </a:solidFill>
                <a:latin typeface="Aptos"/>
              </a:rPr>
              <a:t>End-to-end inspection workflow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973568" y="532180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EA2BE"/>
                </a:solidFill>
                <a:latin typeface="Aptos"/>
              </a:rPr>
              <a:t>COMPLETED SCOPE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973568" y="5541264"/>
            <a:ext cx="3154680" cy="29260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D6C5"/>
                </a:solidFill>
                <a:latin typeface="Aptos"/>
              </a:rPr>
              <a:t>Classification  •  Assessment  •  Reporting  •  Trends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8AB"/>
                </a:solidFill>
                <a:latin typeface="Aptos"/>
              </a:rPr>
              <a:t>VISIONINSPECT AI  /  INFOSYS SPRINGBOARD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98AB"/>
                </a:solidFill>
                <a:latin typeface="Aptos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420624"/>
            <a:ext cx="1664208" cy="2560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STEP 01–02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Aptos"/>
              </a:rPr>
              <a:t>Severity scoring and quality risk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8132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D6B82"/>
                </a:solidFill>
                <a:latin typeface="Aptos"/>
              </a:rPr>
              <a:t>A weighted scoring framework converts classification results into consistent risk levels and recommended action.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57400"/>
            <a:ext cx="2249424" cy="786384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22959" y="22219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33"/>
                </a:solidFill>
                <a:latin typeface="Aptos"/>
              </a:rPr>
              <a:t>DEFECT TYPE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categorize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75887" y="2057400"/>
            <a:ext cx="2249424" cy="786384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840479" y="22219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33"/>
                </a:solidFill>
                <a:latin typeface="Aptos"/>
              </a:rPr>
              <a:t>SEVERITY SCORE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79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assess risk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693408" y="2057400"/>
            <a:ext cx="2249424" cy="786384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858000" y="2221992"/>
            <a:ext cx="192024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72033"/>
                </a:solidFill>
                <a:latin typeface="Aptos"/>
              </a:rPr>
              <a:t>QUALITY DECISION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2505456"/>
            <a:ext cx="19202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act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044952" y="22219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764FF"/>
                </a:solidFill>
                <a:latin typeface="Aptos"/>
              </a:rPr>
              <a:t>→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62472" y="2221992"/>
            <a:ext cx="4114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600" b="1" i="0">
                <a:solidFill>
                  <a:srgbClr val="2764FF"/>
                </a:solidFill>
                <a:latin typeface="Aptos"/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" y="3218688"/>
            <a:ext cx="22860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SCORING PARAMETERS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8368" y="3502152"/>
            <a:ext cx="254203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22959" y="3675887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2764FF"/>
                </a:solidFill>
                <a:latin typeface="Aptos"/>
              </a:rPr>
              <a:t>30%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72768" y="36850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33"/>
                </a:solidFill>
                <a:latin typeface="Aptos"/>
              </a:rPr>
              <a:t>SIZE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72768" y="39502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82"/>
                </a:solidFill>
                <a:latin typeface="Aptos"/>
              </a:rPr>
              <a:t>physical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447287" y="3502152"/>
            <a:ext cx="254203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3611879" y="3675887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C47A16"/>
                </a:solidFill>
                <a:latin typeface="Aptos"/>
              </a:rPr>
              <a:t>25%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361688" y="36850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33"/>
                </a:solidFill>
                <a:latin typeface="Aptos"/>
              </a:rPr>
              <a:t>LOCATION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361688" y="39502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82"/>
                </a:solidFill>
                <a:latin typeface="Aptos"/>
              </a:rPr>
              <a:t>critical area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236207" y="3502152"/>
            <a:ext cx="254203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6400799" y="3675887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5A57A6"/>
                </a:solidFill>
                <a:latin typeface="Aptos"/>
              </a:rPr>
              <a:t>25%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150607" y="36850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33"/>
                </a:solidFill>
                <a:latin typeface="Aptos"/>
              </a:rPr>
              <a:t>DEFECT TYPE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150607" y="39502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82"/>
                </a:solidFill>
                <a:latin typeface="Aptos"/>
              </a:rPr>
              <a:t>seriousness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025128" y="3502152"/>
            <a:ext cx="2542032" cy="95097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9189719" y="3675887"/>
            <a:ext cx="685800" cy="38404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200" b="1" i="0">
                <a:solidFill>
                  <a:srgbClr val="18A66B"/>
                </a:solidFill>
                <a:latin typeface="Aptos"/>
              </a:rPr>
              <a:t>20%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939528" y="3685032"/>
            <a:ext cx="141732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72033"/>
                </a:solidFill>
                <a:latin typeface="Aptos"/>
              </a:rPr>
              <a:t>CONFIDENCE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939528" y="3950208"/>
            <a:ext cx="1417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82"/>
                </a:solidFill>
                <a:latin typeface="Aptos"/>
              </a:rPr>
              <a:t>model reliability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" y="4754880"/>
            <a:ext cx="6784848" cy="932688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96112" y="5020056"/>
            <a:ext cx="6327648" cy="32918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120" b="1" i="0">
                <a:solidFill>
                  <a:srgbClr val="FFFFFF"/>
                </a:solidFill>
                <a:latin typeface="Aptos"/>
              </a:rPr>
              <a:t>Severity Score = (Size × 30%) + (Location × 25%) + (Defect Type × 25%) + (Confidence × 20%)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7726679" y="4754880"/>
            <a:ext cx="3767328" cy="93268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" name="Oval 36"/>
          <p:cNvSpPr/>
          <p:nvPr/>
        </p:nvSpPr>
        <p:spPr>
          <a:xfrm>
            <a:off x="7936992" y="4965192"/>
            <a:ext cx="164592" cy="164592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TextBox 37"/>
          <p:cNvSpPr txBox="1"/>
          <p:nvPr/>
        </p:nvSpPr>
        <p:spPr>
          <a:xfrm>
            <a:off x="8165592" y="489204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72033"/>
                </a:solidFill>
                <a:latin typeface="Aptos"/>
              </a:rPr>
              <a:t>LOW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165592" y="512978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B82"/>
                </a:solidFill>
                <a:latin typeface="Aptos"/>
              </a:rPr>
              <a:t>0–39</a:t>
            </a:r>
          </a:p>
        </p:txBody>
      </p:sp>
      <p:sp>
        <p:nvSpPr>
          <p:cNvPr id="40" name="Oval 39"/>
          <p:cNvSpPr/>
          <p:nvPr/>
        </p:nvSpPr>
        <p:spPr>
          <a:xfrm>
            <a:off x="8796528" y="4965192"/>
            <a:ext cx="164592" cy="164592"/>
          </a:xfrm>
          <a:prstGeom prst="ellipse">
            <a:avLst/>
          </a:prstGeom>
          <a:solidFill>
            <a:srgbClr val="2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9025128" y="489204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72033"/>
                </a:solidFill>
                <a:latin typeface="Aptos"/>
              </a:rPr>
              <a:t>MEDIUM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025128" y="512978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B82"/>
                </a:solidFill>
                <a:latin typeface="Aptos"/>
              </a:rPr>
              <a:t>40–59</a:t>
            </a:r>
          </a:p>
        </p:txBody>
      </p:sp>
      <p:sp>
        <p:nvSpPr>
          <p:cNvPr id="43" name="Oval 42"/>
          <p:cNvSpPr/>
          <p:nvPr/>
        </p:nvSpPr>
        <p:spPr>
          <a:xfrm>
            <a:off x="9656063" y="4965192"/>
            <a:ext cx="164592" cy="164592"/>
          </a:xfrm>
          <a:prstGeom prst="ellipse">
            <a:avLst/>
          </a:prstGeom>
          <a:solidFill>
            <a:srgbClr val="C4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" name="TextBox 43"/>
          <p:cNvSpPr txBox="1"/>
          <p:nvPr/>
        </p:nvSpPr>
        <p:spPr>
          <a:xfrm>
            <a:off x="9884663" y="489204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72033"/>
                </a:solidFill>
                <a:latin typeface="Aptos"/>
              </a:rPr>
              <a:t>HIGH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84663" y="512978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B82"/>
                </a:solidFill>
                <a:latin typeface="Aptos"/>
              </a:rPr>
              <a:t>60–79</a:t>
            </a:r>
          </a:p>
        </p:txBody>
      </p:sp>
      <p:sp>
        <p:nvSpPr>
          <p:cNvPr id="46" name="Oval 45"/>
          <p:cNvSpPr/>
          <p:nvPr/>
        </p:nvSpPr>
        <p:spPr>
          <a:xfrm>
            <a:off x="10515600" y="4965192"/>
            <a:ext cx="164592" cy="164592"/>
          </a:xfrm>
          <a:prstGeom prst="ellipse">
            <a:avLst/>
          </a:prstGeom>
          <a:solidFill>
            <a:srgbClr val="C94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10744200" y="4892040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770" b="1" i="0">
                <a:solidFill>
                  <a:srgbClr val="172033"/>
                </a:solidFill>
                <a:latin typeface="Aptos"/>
              </a:rPr>
              <a:t>CRITICAL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10744200" y="5129784"/>
            <a:ext cx="566928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5D6B82"/>
                </a:solidFill>
                <a:latin typeface="Aptos"/>
              </a:rPr>
              <a:t>80–100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49808" y="5961888"/>
            <a:ext cx="10515600" cy="246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19" b="0" i="1">
                <a:solidFill>
                  <a:srgbClr val="5D6B82"/>
                </a:solidFill>
                <a:latin typeface="Aptos"/>
              </a:rPr>
              <a:t>Illustrative framework example: Surface Crack → score 88 → Critical → Reject product and trigger the quality inspection workflow.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8AB"/>
                </a:solidFill>
                <a:latin typeface="Aptos"/>
              </a:rPr>
              <a:t>VISIONINSPECT AI  /  INFOSYS SPRINGBOARD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98AB"/>
                </a:solidFill>
                <a:latin typeface="Aptos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420624"/>
            <a:ext cx="1664208" cy="2560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STEP 03–04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172033"/>
                </a:solidFill>
                <a:latin typeface="Aptos"/>
              </a:rPr>
              <a:t>Quality control and production reporting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8132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D6B82"/>
                </a:solidFill>
                <a:latin typeface="Aptos"/>
              </a:rPr>
              <a:t>The completed modules connect defect intelligence with actionable quality-control decisions.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48256"/>
            <a:ext cx="4709160" cy="3602736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395728"/>
            <a:ext cx="2468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DELIVERED COMPONENTS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60120" y="2724912"/>
            <a:ext cx="32918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172033"/>
                </a:solidFill>
                <a:latin typeface="Aptos"/>
              </a:rPr>
              <a:t>Quality decisions
that can be reviewed</a:t>
            </a:r>
          </a:p>
        </p:txBody>
      </p:sp>
      <p:sp>
        <p:nvSpPr>
          <p:cNvPr id="9" name="Oval 8"/>
          <p:cNvSpPr/>
          <p:nvPr/>
        </p:nvSpPr>
        <p:spPr>
          <a:xfrm>
            <a:off x="987552" y="3785615"/>
            <a:ext cx="219456" cy="219456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987552" y="3785615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35024" y="3767328"/>
            <a:ext cx="34930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Pass/fail decision generation</a:t>
            </a:r>
          </a:p>
        </p:txBody>
      </p:sp>
      <p:sp>
        <p:nvSpPr>
          <p:cNvPr id="12" name="Oval 11"/>
          <p:cNvSpPr/>
          <p:nvPr/>
        </p:nvSpPr>
        <p:spPr>
          <a:xfrm>
            <a:off x="987552" y="4224527"/>
            <a:ext cx="219456" cy="219456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987552" y="4224527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35024" y="4206240"/>
            <a:ext cx="34930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Inspection reporting</a:t>
            </a:r>
          </a:p>
        </p:txBody>
      </p:sp>
      <p:sp>
        <p:nvSpPr>
          <p:cNvPr id="15" name="Oval 14"/>
          <p:cNvSpPr/>
          <p:nvPr/>
        </p:nvSpPr>
        <p:spPr>
          <a:xfrm>
            <a:off x="987552" y="4663440"/>
            <a:ext cx="219456" cy="219456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987552" y="4663440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35024" y="4645152"/>
            <a:ext cx="34930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Quality recommendations</a:t>
            </a:r>
          </a:p>
        </p:txBody>
      </p:sp>
      <p:sp>
        <p:nvSpPr>
          <p:cNvPr id="18" name="Oval 17"/>
          <p:cNvSpPr/>
          <p:nvPr/>
        </p:nvSpPr>
        <p:spPr>
          <a:xfrm>
            <a:off x="987552" y="5102352"/>
            <a:ext cx="219456" cy="219456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987552" y="5102352"/>
            <a:ext cx="219456" cy="21945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35024" y="5084064"/>
            <a:ext cx="3493008" cy="32004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172033"/>
                </a:solidFill>
                <a:latin typeface="Aptos"/>
              </a:rPr>
              <a:t>Production monitoring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806440" y="2395728"/>
            <a:ext cx="411480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OUTPUT OF THE COMPLETED WORKFLOW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779008" y="2724912"/>
            <a:ext cx="5468112" cy="530352"/>
          </a:xfrm>
          <a:prstGeom prst="roundRect">
            <a:avLst/>
          </a:prstGeom>
          <a:solidFill>
            <a:srgbClr val="EAF0FF"/>
          </a:solidFill>
          <a:ln w="12700">
            <a:solidFill>
              <a:srgbClr val="EAF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Oval 22"/>
          <p:cNvSpPr/>
          <p:nvPr/>
        </p:nvSpPr>
        <p:spPr>
          <a:xfrm>
            <a:off x="5989320" y="2862072"/>
            <a:ext cx="246888" cy="246888"/>
          </a:xfrm>
          <a:prstGeom prst="ellipse">
            <a:avLst/>
          </a:prstGeom>
          <a:solidFill>
            <a:srgbClr val="276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989320" y="2862072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01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382512" y="2816352"/>
            <a:ext cx="20848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Classified finding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25496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Defect type and category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779008" y="3401568"/>
            <a:ext cx="5468112" cy="530352"/>
          </a:xfrm>
          <a:prstGeom prst="roundRect">
            <a:avLst/>
          </a:prstGeom>
          <a:solidFill>
            <a:srgbClr val="FFF4DD"/>
          </a:solidFill>
          <a:ln w="12700">
            <a:solidFill>
              <a:srgbClr val="FFF4D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Oval 27"/>
          <p:cNvSpPr/>
          <p:nvPr/>
        </p:nvSpPr>
        <p:spPr>
          <a:xfrm>
            <a:off x="5989320" y="3538727"/>
            <a:ext cx="246888" cy="246888"/>
          </a:xfrm>
          <a:prstGeom prst="ellipse">
            <a:avLst/>
          </a:prstGeom>
          <a:solidFill>
            <a:srgbClr val="C47A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5989320" y="3538727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382512" y="3493008"/>
            <a:ext cx="20848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Risk assessment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412480" y="3502151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Severity score and quality risk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79008" y="4078224"/>
            <a:ext cx="5468112" cy="530352"/>
          </a:xfrm>
          <a:prstGeom prst="roundRect">
            <a:avLst/>
          </a:prstGeom>
          <a:solidFill>
            <a:srgbClr val="E8F7F0"/>
          </a:solidFill>
          <a:ln w="12700">
            <a:solidFill>
              <a:srgbClr val="E8F7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Oval 32"/>
          <p:cNvSpPr/>
          <p:nvPr/>
        </p:nvSpPr>
        <p:spPr>
          <a:xfrm>
            <a:off x="5989320" y="4215384"/>
            <a:ext cx="246888" cy="246888"/>
          </a:xfrm>
          <a:prstGeom prst="ellipse">
            <a:avLst/>
          </a:prstGeom>
          <a:solidFill>
            <a:srgbClr val="18A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" name="TextBox 33"/>
          <p:cNvSpPr txBox="1"/>
          <p:nvPr/>
        </p:nvSpPr>
        <p:spPr>
          <a:xfrm>
            <a:off x="5989320" y="4215384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03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82512" y="4169663"/>
            <a:ext cx="20848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Recommended action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412480" y="4178808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Pass, rework, review or reject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5779008" y="4754879"/>
            <a:ext cx="5468112" cy="530352"/>
          </a:xfrm>
          <a:prstGeom prst="roundRect">
            <a:avLst/>
          </a:prstGeom>
          <a:solidFill>
            <a:srgbClr val="F0ECFF"/>
          </a:solidFill>
          <a:ln w="12700">
            <a:solidFill>
              <a:srgbClr val="F0EC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" name="Oval 37"/>
          <p:cNvSpPr/>
          <p:nvPr/>
        </p:nvSpPr>
        <p:spPr>
          <a:xfrm>
            <a:off x="5989320" y="4892040"/>
            <a:ext cx="246888" cy="246888"/>
          </a:xfrm>
          <a:prstGeom prst="ellipse">
            <a:avLst/>
          </a:prstGeom>
          <a:solidFill>
            <a:srgbClr val="5A57A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5989320" y="4892040"/>
            <a:ext cx="246888" cy="24688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800" b="1" i="0">
                <a:solidFill>
                  <a:srgbClr val="FFFFFF"/>
                </a:solidFill>
                <a:latin typeface="Aptos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382512" y="4846319"/>
            <a:ext cx="2084831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Production insight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412480" y="4855464"/>
            <a:ext cx="2542032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5D6B82"/>
                </a:solidFill>
                <a:latin typeface="Aptos"/>
              </a:rPr>
              <a:t>Aggregated report for monitoring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5779008" y="5532120"/>
            <a:ext cx="5468112" cy="438912"/>
          </a:xfrm>
          <a:prstGeom prst="roundRect">
            <a:avLst/>
          </a:prstGeom>
          <a:solidFill>
            <a:srgbClr val="0B1220"/>
          </a:solidFill>
          <a:ln w="12700">
            <a:solidFill>
              <a:srgbClr val="0B12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" name="TextBox 42"/>
          <p:cNvSpPr txBox="1"/>
          <p:nvPr/>
        </p:nvSpPr>
        <p:spPr>
          <a:xfrm>
            <a:off x="5989320" y="564184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80" b="1" i="0">
                <a:solidFill>
                  <a:srgbClr val="FFFFFF"/>
                </a:solidFill>
                <a:latin typeface="Aptos"/>
              </a:rPr>
              <a:t>Milestone output: a structured inspection record ready for QA review and production analytics.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8AB"/>
                </a:solidFill>
                <a:latin typeface="Aptos"/>
              </a:rPr>
              <a:t>VISIONINSPECT AI  /  INFOSYS SPRINGBOARD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98AB"/>
                </a:solidFill>
                <a:latin typeface="Aptos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420624"/>
            <a:ext cx="1664208" cy="2560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2764FF"/>
                </a:solidFill>
                <a:latin typeface="Aptos"/>
              </a:rPr>
              <a:t>STEP 05–06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52760" cy="4154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 dirty="0">
                <a:solidFill>
                  <a:srgbClr val="172033"/>
                </a:solidFill>
                <a:latin typeface="Aptos"/>
              </a:rPr>
              <a:t>Manufacturing analytics dashboard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8132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5D6B82"/>
                </a:solidFill>
                <a:latin typeface="Aptos"/>
              </a:rPr>
              <a:t>Insert screenshots of the completed analytics views below before presenting.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029968"/>
            <a:ext cx="5230368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886968" y="2487168"/>
            <a:ext cx="4773168" cy="2340864"/>
          </a:xfrm>
          <a:prstGeom prst="rect">
            <a:avLst/>
          </a:prstGeom>
          <a:solidFill>
            <a:srgbClr val="F4F7FB"/>
          </a:solidFill>
          <a:ln w="12700">
            <a:solidFill>
              <a:srgbClr val="B9C8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1207007" y="30906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A2BE"/>
                </a:solidFill>
                <a:latin typeface="Aptos"/>
              </a:rPr>
              <a:t>INSERT DASHBOARD SCREENSHOT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07007" y="350215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9BC"/>
                </a:solidFill>
                <a:latin typeface="Aptos"/>
              </a:rPr>
              <a:t>Replace this placeholder with your evidence image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176272"/>
            <a:ext cx="1152144" cy="256032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87552" y="21945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2764FF"/>
                </a:solidFill>
                <a:latin typeface="Aptos"/>
              </a:rPr>
              <a:t>SCREENSHOT 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58568" y="2176272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Defect Analytics Dashboard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50976" y="4965192"/>
            <a:ext cx="4663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82"/>
                </a:solidFill>
                <a:latin typeface="Aptos"/>
              </a:rPr>
              <a:t>Defect counts • categories • severity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91072" y="2029968"/>
            <a:ext cx="5230368" cy="3310128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519672" y="2487168"/>
            <a:ext cx="4773168" cy="2340864"/>
          </a:xfrm>
          <a:prstGeom prst="rect">
            <a:avLst/>
          </a:prstGeom>
          <a:solidFill>
            <a:srgbClr val="F4F7FB"/>
          </a:solidFill>
          <a:ln w="12700">
            <a:solidFill>
              <a:srgbClr val="B9C8DF"/>
            </a:solidFill>
            <a:prstDash val="dash"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839712" y="3090672"/>
            <a:ext cx="41148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500" b="1" i="0">
                <a:solidFill>
                  <a:srgbClr val="8EA2BE"/>
                </a:solidFill>
                <a:latin typeface="Aptos"/>
              </a:rPr>
              <a:t>INSERT DASHBOARD SCREENSHOT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39712" y="3502152"/>
            <a:ext cx="41148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9AA9BC"/>
                </a:solidFill>
                <a:latin typeface="Aptos"/>
              </a:rPr>
              <a:t>Replace this placeholder with your evidence image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547104" y="2176272"/>
            <a:ext cx="1152144" cy="256032"/>
          </a:xfrm>
          <a:prstGeom prst="roundRect">
            <a:avLst/>
          </a:prstGeom>
          <a:solidFill>
            <a:srgbClr val="E8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6620256" y="2194560"/>
            <a:ext cx="1005840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43D6C5"/>
                </a:solidFill>
                <a:latin typeface="Aptos"/>
              </a:rPr>
              <a:t>SCREENSHOT 02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891271" y="2176272"/>
            <a:ext cx="329184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200" b="1" i="0">
                <a:solidFill>
                  <a:srgbClr val="172033"/>
                </a:solidFill>
                <a:latin typeface="Aptos"/>
              </a:rPr>
              <a:t>Trend Monitoring / Production Report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83680" y="4965192"/>
            <a:ext cx="466344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5D6B82"/>
                </a:solidFill>
                <a:latin typeface="Aptos"/>
              </a:rPr>
              <a:t>Trend over time • pass/fail • inspection stats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04090" y="5810299"/>
            <a:ext cx="1554478" cy="192023"/>
          </a:xfrm>
          <a:prstGeom prst="roundRect">
            <a:avLst/>
          </a:prstGeom>
          <a:solidFill>
            <a:srgbClr val="EAF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23" name="TextBox 22"/>
          <p:cNvSpPr txBox="1"/>
          <p:nvPr/>
        </p:nvSpPr>
        <p:spPr>
          <a:xfrm>
            <a:off x="850392" y="5789580"/>
            <a:ext cx="1728216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2764FF"/>
                </a:solidFill>
                <a:latin typeface="Aptos"/>
              </a:rPr>
              <a:t>DEFECT TREND ANALYSIS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063560" y="5813617"/>
            <a:ext cx="2057400" cy="256032"/>
          </a:xfrm>
          <a:prstGeom prst="roundRect">
            <a:avLst/>
          </a:prstGeom>
          <a:solidFill>
            <a:srgbClr val="FFF4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4217705" y="5880673"/>
            <a:ext cx="191109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C47A16"/>
                </a:solidFill>
                <a:latin typeface="Aptos"/>
              </a:rPr>
              <a:t>PRODUCTION QUALITY REPORTS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2919" y="5810299"/>
            <a:ext cx="2331720" cy="256032"/>
          </a:xfrm>
          <a:prstGeom prst="roundRect">
            <a:avLst/>
          </a:prstGeom>
          <a:solidFill>
            <a:srgbClr val="E8FB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196072" y="5868481"/>
            <a:ext cx="2185415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 dirty="0">
                <a:solidFill>
                  <a:srgbClr val="18A66B"/>
                </a:solidFill>
                <a:latin typeface="Aptos"/>
              </a:rPr>
              <a:t>INSPECTION STATISTICS &amp; INSIGHTS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8B98AB"/>
                </a:solidFill>
                <a:latin typeface="Aptos"/>
              </a:rPr>
              <a:t>VISIONINSPECT AI  /  INFOSYS SPRINGBOARD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8B98AB"/>
                </a:solidFill>
                <a:latin typeface="Aptos"/>
              </a:rPr>
              <a:t>05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85B60B-7C12-69FE-EFC9-FEA3C26D2C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81" y="1517904"/>
            <a:ext cx="6112388" cy="4027218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AAACDB54-379F-FAEF-26B8-14CE3B2719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2335" y="1517904"/>
            <a:ext cx="5788384" cy="40637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FD902C0-B78B-C90C-D7E9-563DECE5EF7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2" y="329443"/>
            <a:ext cx="5426764" cy="2889752"/>
          </a:xfrm>
          <a:prstGeom prst="rect">
            <a:avLst/>
          </a:prstGeom>
        </p:spPr>
      </p:pic>
      <p:sp>
        <p:nvSpPr>
          <p:cNvPr id="27" name="Rectangle 26">
            <a:extLst>
              <a:ext uri="{FF2B5EF4-FFF2-40B4-BE49-F238E27FC236}">
                <a16:creationId xmlns:a16="http://schemas.microsoft.com/office/drawing/2014/main" id="{417CDA24-35F8-4540-8C52-3096D6D949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50280" y="0"/>
            <a:ext cx="91440" cy="685800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9E7E07-FC7A-5EF2-70EB-DB1969A3B70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034" y="413090"/>
            <a:ext cx="5112595" cy="2722457"/>
          </a:xfrm>
          <a:prstGeom prst="rect">
            <a:avLst/>
          </a:prstGeom>
        </p:spPr>
      </p:pic>
      <p:sp>
        <p:nvSpPr>
          <p:cNvPr id="29" name="Rectangle 28">
            <a:extLst>
              <a:ext uri="{FF2B5EF4-FFF2-40B4-BE49-F238E27FC236}">
                <a16:creationId xmlns:a16="http://schemas.microsoft.com/office/drawing/2014/main" id="{8658BFE0-4E65-4174-9C75-687C94E882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FA75DFED-A0C1-4A83-BE1D-0271C1826E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065520" y="3383280"/>
            <a:ext cx="6126480" cy="91440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8B9CC94-99BD-63CD-DE83-B0ACD04E7D7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8509" y="3631096"/>
            <a:ext cx="5184148" cy="276056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A90B1581-05A2-5C78-DE37-7BE37D03C85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308034" y="3650147"/>
            <a:ext cx="5112595" cy="2722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6773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2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566928" y="420624"/>
            <a:ext cx="1664208" cy="256032"/>
          </a:xfrm>
          <a:prstGeom prst="roundRect">
            <a:avLst/>
          </a:prstGeom>
          <a:solidFill>
            <a:srgbClr val="1930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640080" y="438912"/>
            <a:ext cx="1517904" cy="20116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6C5"/>
                </a:solidFill>
                <a:latin typeface="Aptos"/>
              </a:rPr>
              <a:t>MILESTONE 3  /  COMPLETE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841248"/>
            <a:ext cx="10652760" cy="56692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700" b="1" i="0">
                <a:solidFill>
                  <a:srgbClr val="FFFFFF"/>
                </a:solidFill>
                <a:latin typeface="Aptos"/>
              </a:rPr>
              <a:t>Completion summary and next phase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85216" y="1481328"/>
            <a:ext cx="1024128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C3CCDB"/>
                </a:solidFill>
                <a:latin typeface="Aptos"/>
              </a:rPr>
              <a:t>The Milestone 3 criteria are addressed; the system is ready for testing, deployment and documentation.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58368" y="2121408"/>
            <a:ext cx="5486400" cy="3493008"/>
          </a:xfrm>
          <a:prstGeom prst="roundRect">
            <a:avLst/>
          </a:prstGeom>
          <a:solidFill>
            <a:srgbClr val="121D31"/>
          </a:solidFill>
          <a:ln w="12700">
            <a:solidFill>
              <a:srgbClr val="2B3C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60120" y="24688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6C5"/>
                </a:solidFill>
                <a:latin typeface="Aptos"/>
              </a:rPr>
              <a:t>EVALUATION CRITERIA</a:t>
            </a:r>
          </a:p>
        </p:txBody>
      </p:sp>
      <p:sp>
        <p:nvSpPr>
          <p:cNvPr id="8" name="Oval 7"/>
          <p:cNvSpPr/>
          <p:nvPr/>
        </p:nvSpPr>
        <p:spPr>
          <a:xfrm>
            <a:off x="960120" y="2907792"/>
            <a:ext cx="237744" cy="237744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60120" y="2907792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53312" y="2862072"/>
            <a:ext cx="43434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Classification + analytics dashboard implemented</a:t>
            </a:r>
          </a:p>
        </p:txBody>
      </p:sp>
      <p:sp>
        <p:nvSpPr>
          <p:cNvPr id="11" name="Oval 10"/>
          <p:cNvSpPr/>
          <p:nvPr/>
        </p:nvSpPr>
        <p:spPr>
          <a:xfrm>
            <a:off x="960120" y="3465576"/>
            <a:ext cx="237744" cy="237744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60120" y="3465576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53312" y="3419856"/>
            <a:ext cx="43434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Quality assessment + severity reports functional</a:t>
            </a:r>
          </a:p>
        </p:txBody>
      </p:sp>
      <p:sp>
        <p:nvSpPr>
          <p:cNvPr id="14" name="Oval 13"/>
          <p:cNvSpPr/>
          <p:nvPr/>
        </p:nvSpPr>
        <p:spPr>
          <a:xfrm>
            <a:off x="960120" y="4023360"/>
            <a:ext cx="237744" cy="237744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960120" y="4023360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53312" y="3977639"/>
            <a:ext cx="43434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Production quality analytics generated</a:t>
            </a:r>
          </a:p>
        </p:txBody>
      </p:sp>
      <p:sp>
        <p:nvSpPr>
          <p:cNvPr id="17" name="Oval 16"/>
          <p:cNvSpPr/>
          <p:nvPr/>
        </p:nvSpPr>
        <p:spPr>
          <a:xfrm>
            <a:off x="960120" y="4581144"/>
            <a:ext cx="237744" cy="237744"/>
          </a:xfrm>
          <a:prstGeom prst="ellipse">
            <a:avLst/>
          </a:prstGeom>
          <a:solidFill>
            <a:srgbClr val="43D6C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60120" y="4581144"/>
            <a:ext cx="237744" cy="237744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Aptos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53312" y="4535424"/>
            <a:ext cx="4343400" cy="301752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FFFFFF"/>
                </a:solidFill>
                <a:latin typeface="Aptos"/>
              </a:rPr>
              <a:t>Trend monitoring workflows integrated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720840" y="2468880"/>
            <a:ext cx="256032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43D6C5"/>
                </a:solidFill>
                <a:latin typeface="Aptos"/>
              </a:rPr>
              <a:t>COMPLETION OUTCOME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720840" y="2816352"/>
            <a:ext cx="4434840" cy="6583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300" b="1" i="0">
                <a:solidFill>
                  <a:srgbClr val="FFFFFF"/>
                </a:solidFill>
                <a:latin typeface="Aptos"/>
              </a:rPr>
              <a:t>A complete analytics layer
for manufacturing inspection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729984" y="3858768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3D6C5"/>
                </a:solidFill>
                <a:latin typeface="Aptos"/>
              </a:rPr>
              <a:t>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13448" y="3858768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5DEEA"/>
                </a:solidFill>
                <a:latin typeface="Aptos"/>
              </a:rPr>
              <a:t>Defect intelligence → quality action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729984" y="4251959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3D6C5"/>
                </a:solidFill>
                <a:latin typeface="Aptos"/>
              </a:rPr>
              <a:t>—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13448" y="4251959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5DEEA"/>
                </a:solidFill>
                <a:latin typeface="Aptos"/>
              </a:rPr>
              <a:t>Quality records → production insight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729984" y="4645152"/>
            <a:ext cx="2286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1" i="0">
                <a:solidFill>
                  <a:srgbClr val="43D6C5"/>
                </a:solidFill>
                <a:latin typeface="Aptos"/>
              </a:rPr>
              <a:t>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13448" y="4645152"/>
            <a:ext cx="4114800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D5DEEA"/>
                </a:solidFill>
                <a:latin typeface="Aptos"/>
              </a:rPr>
              <a:t>Inspection workflow → end-to-end visibility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58368" y="5852160"/>
            <a:ext cx="10899648" cy="411480"/>
          </a:xfrm>
          <a:prstGeom prst="roundRect">
            <a:avLst/>
          </a:prstGeom>
          <a:solidFill>
            <a:srgbClr val="19304D"/>
          </a:solidFill>
          <a:ln w="12700">
            <a:solidFill>
              <a:srgbClr val="1930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" name="TextBox 28"/>
          <p:cNvSpPr txBox="1"/>
          <p:nvPr/>
        </p:nvSpPr>
        <p:spPr>
          <a:xfrm>
            <a:off x="868680" y="5952744"/>
            <a:ext cx="10469880" cy="182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43D6C5"/>
                </a:solidFill>
                <a:latin typeface="Aptos"/>
              </a:rPr>
              <a:t>NEXT  /  MILESTONE 4  —  TESTING, DEPLOYMENT &amp; DOCUMENTATION  •  WEEKS 7–8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6510528"/>
            <a:ext cx="5029200" cy="1645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850" b="1" i="0">
                <a:solidFill>
                  <a:srgbClr val="A8B4C6"/>
                </a:solidFill>
                <a:latin typeface="Aptos"/>
              </a:rPr>
              <a:t>VISIONINSPECT AI  /  INFOSYS SPRINGBOARD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73952"/>
            <a:ext cx="457200" cy="20116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900" b="1" i="0">
                <a:solidFill>
                  <a:srgbClr val="A8B4C6"/>
                </a:solidFill>
                <a:latin typeface="Aptos"/>
              </a:rPr>
              <a:t>06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VisionInspect_AI_Milestone_3_Completed (1)</Template>
  <TotalTime>185</TotalTime>
  <Words>528</Words>
  <Application>Microsoft Office PowerPoint</Application>
  <PresentationFormat>Widescreen</PresentationFormat>
  <Paragraphs>145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>Infosys Springboard project milestone presentation</dc:subject>
  <dc:creator>ramya koyyada</dc:creator>
  <cp:keywords>VisionInspect AI, Milestone 3, defect classification, manufacturing analytics</cp:keywords>
  <dc:description>generated using python-pptx</dc:description>
  <cp:lastModifiedBy>ramya koyyada</cp:lastModifiedBy>
  <cp:revision>1</cp:revision>
  <dcterms:created xsi:type="dcterms:W3CDTF">2026-08-27T05:16:16Z</dcterms:created>
  <dcterms:modified xsi:type="dcterms:W3CDTF">2026-08-27T09:49:00Z</dcterms:modified>
  <cp:category/>
</cp:coreProperties>
</file>