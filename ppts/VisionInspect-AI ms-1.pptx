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6" r:id="rId11"/>
    <p:sldId id="267" r:id="rId12"/>
  </p:sldIdLst>
  <p:sldSz cx="12192000" cy="6858000"/>
  <p:notesSz cx="6858000" cy="12192000"/>
  <p:embeddedFontLst>
    <p:embeddedFont>
      <p:font typeface="Consolas" panose="020B0609020204030204" pitchFamily="49" charset="0"/>
      <p:regular r:id="rId14"/>
      <p:bold r:id="rId15"/>
      <p:italic r:id="rId16"/>
      <p:boldItalic r:id="rId17"/>
    </p:embeddedFont>
    <p:embeddedFont>
      <p:font typeface="DM Sans Medium" pitchFamily="2" charset="0"/>
      <p:regular r:id="rId18"/>
    </p:embeddedFont>
    <p:embeddedFont>
      <p:font typeface="Inter" panose="020B0604020202020204" charset="0"/>
      <p:regular r:id="rId19"/>
    </p:embeddedFont>
    <p:embeddedFont>
      <p:font typeface="Inter Bold" panose="020B0604020202020204" charset="0"/>
      <p:regular r:id="rId2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42187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21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3133"/>
          </a:solidFill>
          <a:ln/>
        </p:spPr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4C5052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4263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2583160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VisionInspect AI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661475" y="3457277"/>
            <a:ext cx="6296860" cy="8174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AI-Based Manufacturing Defect Detection System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D6D9D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Milestone 1 Review</a:t>
            </a:r>
            <a:r>
              <a:rPr lang="en-US" sz="14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· Presented by Murali Sankar Reddy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52016"/>
            <a:ext cx="10868745" cy="502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Project Overview</a:t>
            </a:r>
            <a:endParaRPr lang="en-US" sz="3150" dirty="0"/>
          </a:p>
        </p:txBody>
      </p:sp>
      <p:sp>
        <p:nvSpPr>
          <p:cNvPr id="3" name="Shape 1"/>
          <p:cNvSpPr/>
          <p:nvPr/>
        </p:nvSpPr>
        <p:spPr>
          <a:xfrm>
            <a:off x="661475" y="1912441"/>
            <a:ext cx="5238421" cy="3739952"/>
          </a:xfrm>
          <a:prstGeom prst="roundRect">
            <a:avLst>
              <a:gd name="adj" fmla="val 644"/>
            </a:avLst>
          </a:prstGeom>
          <a:noFill/>
          <a:ln w="6350">
            <a:solidFill>
              <a:srgbClr val="FFFFFF">
                <a:alpha val="24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667924" y="1918791"/>
            <a:ext cx="1463142" cy="414139"/>
          </a:xfrm>
          <a:custGeom>
            <a:avLst/>
            <a:gdLst/>
            <a:ahLst/>
            <a:cxnLst/>
            <a:rect l="l" t="t" r="r" b="b"/>
            <a:pathLst>
              <a:path w="1463142" h="414139">
                <a:moveTo>
                  <a:pt x="20083" y="0"/>
                </a:moveTo>
                <a:lnTo>
                  <a:pt x="1463142" y="0"/>
                </a:lnTo>
                <a:lnTo>
                  <a:pt x="1463142" y="414139"/>
                </a:lnTo>
                <a:lnTo>
                  <a:pt x="0" y="414139"/>
                </a:lnTo>
                <a:lnTo>
                  <a:pt x="0" y="20084"/>
                </a:lnTo>
                <a:arcTo wR="20083" hR="20084" stAng="10800000" swAng="5400000"/>
                <a:close/>
              </a:path>
            </a:pathLst>
          </a:custGeom>
          <a:solidFill>
            <a:srgbClr val="1E5A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828555" y="2006997"/>
            <a:ext cx="1751465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Field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131066" y="1918791"/>
            <a:ext cx="3762479" cy="414139"/>
          </a:xfrm>
          <a:custGeom>
            <a:avLst/>
            <a:gdLst/>
            <a:ahLst/>
            <a:cxnLst/>
            <a:rect l="l" t="t" r="r" b="b"/>
            <a:pathLst>
              <a:path w="3762479" h="414139">
                <a:moveTo>
                  <a:pt x="0" y="0"/>
                </a:moveTo>
                <a:lnTo>
                  <a:pt x="3742396" y="0"/>
                </a:lnTo>
                <a:arcTo wR="20083" hR="20084" stAng="16200000" swAng="5400000"/>
                <a:lnTo>
                  <a:pt x="3762479" y="414139"/>
                </a:lnTo>
                <a:lnTo>
                  <a:pt x="0" y="414139"/>
                </a:lnTo>
                <a:lnTo>
                  <a:pt x="0" y="0"/>
                </a:lnTo>
                <a:close/>
              </a:path>
            </a:pathLst>
          </a:custGeom>
          <a:solidFill>
            <a:srgbClr val="1E5A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2291697" y="2006997"/>
            <a:ext cx="4050802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Details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28555" y="2421136"/>
            <a:ext cx="1751465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b="1" dirty="0">
                <a:solidFill>
                  <a:srgbClr val="D6D9D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Project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2291697" y="2421136"/>
            <a:ext cx="4050802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VisionInspect AI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28555" y="2835275"/>
            <a:ext cx="1751465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b="1" dirty="0">
                <a:solidFill>
                  <a:srgbClr val="D6D9D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Domain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2291697" y="2835275"/>
            <a:ext cx="4050802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Smart Manufacturing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28555" y="3249414"/>
            <a:ext cx="1751465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b="1" dirty="0">
                <a:solidFill>
                  <a:srgbClr val="D6D9D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Objective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2291697" y="3249414"/>
            <a:ext cx="4050802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AI-based Product Inspection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28555" y="3663553"/>
            <a:ext cx="1751465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b="1" dirty="0">
                <a:solidFill>
                  <a:srgbClr val="D6D9D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Frontend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2291697" y="3663553"/>
            <a:ext cx="4050802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React + Vite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28555" y="4077692"/>
            <a:ext cx="1751465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b="1" dirty="0">
                <a:solidFill>
                  <a:srgbClr val="D6D9D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Backend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2291697" y="4077692"/>
            <a:ext cx="4050802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FastAPI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28555" y="4491831"/>
            <a:ext cx="1751465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b="1" dirty="0">
                <a:solidFill>
                  <a:srgbClr val="D6D9D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Database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2291697" y="4491831"/>
            <a:ext cx="4050802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MongoDB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28555" y="4905970"/>
            <a:ext cx="1751465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b="1" dirty="0">
                <a:solidFill>
                  <a:srgbClr val="D6D9D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AI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2291697" y="4905970"/>
            <a:ext cx="4050802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OpenCV, NumPy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828555" y="5320109"/>
            <a:ext cx="1751465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b="1" dirty="0">
                <a:solidFill>
                  <a:srgbClr val="D6D9D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Dataset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2291697" y="5320109"/>
            <a:ext cx="4050802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MVTec AD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298149" y="1895376"/>
            <a:ext cx="5238421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Milestone 1 Objectives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6298149" y="2282924"/>
            <a:ext cx="5238421" cy="195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54000" indent="-254000" algn="l">
              <a:lnSpc>
                <a:spcPct val="123000"/>
              </a:lnSpc>
              <a:buSzPct val="100000"/>
              <a:buChar char="•"/>
            </a:pPr>
            <a:r>
              <a:rPr lang="en-US" sz="12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React Frontend</a:t>
            </a:r>
            <a:endParaRPr lang="en-US" sz="1250" dirty="0"/>
          </a:p>
          <a:p>
            <a:pPr marL="254000" indent="-254000" algn="l">
              <a:lnSpc>
                <a:spcPct val="123000"/>
              </a:lnSpc>
              <a:buSzPct val="100000"/>
              <a:buChar char="•"/>
            </a:pPr>
            <a:r>
              <a:rPr lang="en-US" sz="12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FastAPI Backend</a:t>
            </a:r>
            <a:endParaRPr lang="en-US" sz="1250" dirty="0"/>
          </a:p>
          <a:p>
            <a:pPr marL="254000" indent="-254000" algn="l">
              <a:lnSpc>
                <a:spcPct val="123000"/>
              </a:lnSpc>
              <a:buSzPct val="100000"/>
              <a:buChar char="•"/>
            </a:pPr>
            <a:r>
              <a:rPr lang="en-US" sz="12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MongoDB Integration</a:t>
            </a:r>
            <a:endParaRPr lang="en-US" sz="1250" dirty="0"/>
          </a:p>
          <a:p>
            <a:pPr marL="254000" indent="-254000" algn="l">
              <a:lnSpc>
                <a:spcPct val="123000"/>
              </a:lnSpc>
              <a:buSzPct val="100000"/>
              <a:buChar char="•"/>
            </a:pPr>
            <a:r>
              <a:rPr lang="en-US" sz="12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JWT Authentication</a:t>
            </a:r>
            <a:endParaRPr lang="en-US" sz="1250" dirty="0"/>
          </a:p>
          <a:p>
            <a:pPr marL="254000" indent="-254000" algn="l">
              <a:lnSpc>
                <a:spcPct val="123000"/>
              </a:lnSpc>
              <a:buSzPct val="100000"/>
              <a:buChar char="•"/>
            </a:pPr>
            <a:r>
              <a:rPr lang="en-US" sz="12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Role-Based Access</a:t>
            </a:r>
            <a:endParaRPr lang="en-US" sz="1250" dirty="0"/>
          </a:p>
          <a:p>
            <a:pPr marL="254000" indent="-254000" algn="l">
              <a:lnSpc>
                <a:spcPct val="123000"/>
              </a:lnSpc>
              <a:buSzPct val="100000"/>
              <a:buChar char="•"/>
            </a:pPr>
            <a:r>
              <a:rPr lang="en-US" sz="12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Image Upload</a:t>
            </a:r>
            <a:endParaRPr lang="en-US" sz="1250" dirty="0"/>
          </a:p>
          <a:p>
            <a:pPr marL="254000" indent="-254000" algn="l">
              <a:lnSpc>
                <a:spcPct val="123000"/>
              </a:lnSpc>
              <a:buSzPct val="100000"/>
              <a:buChar char="•"/>
            </a:pPr>
            <a:r>
              <a:rPr lang="en-US" sz="12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Dataset Integration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75977"/>
            <a:ext cx="10868745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System Architecture</a:t>
            </a:r>
            <a:endParaRPr lang="en-US" sz="2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3550" y="1219597"/>
            <a:ext cx="7064595" cy="30515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249354" y="3306027"/>
            <a:ext cx="1048961" cy="3821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FastAPI Backend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4249354" y="3742477"/>
            <a:ext cx="1048961" cy="2521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86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API, auth and business logic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6942814" y="3370985"/>
            <a:ext cx="1048960" cy="1910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AI Module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942814" y="3616382"/>
            <a:ext cx="1048960" cy="37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86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Inference and model orchestration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2905967" y="1494951"/>
            <a:ext cx="1048961" cy="3821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React Frontend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2905967" y="1931401"/>
            <a:ext cx="1048961" cy="2521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86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 interface and client logic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8246187" y="1494951"/>
            <a:ext cx="1048960" cy="3821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MVTec AD Dataset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246187" y="1931401"/>
            <a:ext cx="1048960" cy="37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86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 training and evaluation data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5612801" y="1494951"/>
            <a:ext cx="1048961" cy="1910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MongoDB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612801" y="1740348"/>
            <a:ext cx="1048961" cy="2521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86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Persistent storage for app data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661475" y="4360962"/>
            <a:ext cx="11478330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End-to-end architecture from user interface through backend, data storage, AI processing, and dataset support.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661475" y="4642842"/>
            <a:ext cx="10868745" cy="307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Technology Stack</a:t>
            </a:r>
            <a:endParaRPr lang="en-US" sz="1900" dirty="0"/>
          </a:p>
        </p:txBody>
      </p:sp>
      <p:sp>
        <p:nvSpPr>
          <p:cNvPr id="16" name="Text 13"/>
          <p:cNvSpPr/>
          <p:nvPr/>
        </p:nvSpPr>
        <p:spPr>
          <a:xfrm>
            <a:off x="661475" y="5069780"/>
            <a:ext cx="10868745" cy="11121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3040" indent="-193040" algn="l">
              <a:lnSpc>
                <a:spcPct val="110000"/>
              </a:lnSpc>
              <a:buSzPct val="100000"/>
              <a:buChar char="•"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Frontend: React, Vite, CSS, React Router</a:t>
            </a:r>
            <a:endParaRPr lang="en-US" sz="950" dirty="0"/>
          </a:p>
          <a:p>
            <a:pPr marL="193040" indent="-193040" algn="l">
              <a:lnSpc>
                <a:spcPct val="110000"/>
              </a:lnSpc>
              <a:buSzPct val="100000"/>
              <a:buChar char="•"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Backend: FastAPI, Python 3.11</a:t>
            </a:r>
            <a:endParaRPr lang="en-US" sz="950" dirty="0"/>
          </a:p>
          <a:p>
            <a:pPr marL="193040" indent="-193040" algn="l">
              <a:lnSpc>
                <a:spcPct val="110000"/>
              </a:lnSpc>
              <a:buSzPct val="100000"/>
              <a:buChar char="•"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Database: MongoDB</a:t>
            </a:r>
            <a:endParaRPr lang="en-US" sz="950" dirty="0"/>
          </a:p>
          <a:p>
            <a:pPr marL="193040" indent="-193040" algn="l">
              <a:lnSpc>
                <a:spcPct val="110000"/>
              </a:lnSpc>
              <a:buSzPct val="100000"/>
              <a:buChar char="•"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Authentication: JWT, Passlib, Bcrypt</a:t>
            </a:r>
            <a:endParaRPr lang="en-US" sz="950" dirty="0"/>
          </a:p>
          <a:p>
            <a:pPr marL="193040" indent="-193040" algn="l">
              <a:lnSpc>
                <a:spcPct val="110000"/>
              </a:lnSpc>
              <a:buSzPct val="100000"/>
              <a:buChar char="•"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Libraries: OpenCV, NumPy</a:t>
            </a:r>
            <a:endParaRPr lang="en-US" sz="950" dirty="0"/>
          </a:p>
          <a:p>
            <a:pPr marL="193040" indent="-193040" algn="l">
              <a:lnSpc>
                <a:spcPct val="110000"/>
              </a:lnSpc>
              <a:buSzPct val="100000"/>
              <a:buChar char="•"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Tools: Postman, MongoDB Compass, VS Code, Git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33723"/>
            <a:ext cx="10868745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Database Design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61475" y="1317228"/>
            <a:ext cx="5284556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Users Collection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61475" y="1599009"/>
            <a:ext cx="5284556" cy="2137966"/>
          </a:xfrm>
          <a:prstGeom prst="roundRect">
            <a:avLst>
              <a:gd name="adj" fmla="val 862"/>
            </a:avLst>
          </a:prstGeom>
          <a:noFill/>
          <a:ln w="6350">
            <a:solidFill>
              <a:srgbClr val="FFFFFF">
                <a:alpha val="24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661475" y="1879005"/>
            <a:ext cx="5284556" cy="7679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661475" y="2162175"/>
            <a:ext cx="5284556" cy="7679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661475" y="2445345"/>
            <a:ext cx="5284556" cy="7679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661475" y="2728516"/>
            <a:ext cx="5284556" cy="7679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661475" y="3011686"/>
            <a:ext cx="5284556" cy="7679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661475" y="3450630"/>
            <a:ext cx="5284556" cy="7679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2460365" y="1599009"/>
            <a:ext cx="7679" cy="2137966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4200023" y="1599009"/>
            <a:ext cx="7679" cy="2137966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668023" y="1605359"/>
            <a:ext cx="1792342" cy="273645"/>
          </a:xfrm>
          <a:custGeom>
            <a:avLst/>
            <a:gdLst/>
            <a:ahLst/>
            <a:cxnLst/>
            <a:rect l="l" t="t" r="r" b="b"/>
            <a:pathLst>
              <a:path w="1792342" h="273645">
                <a:moveTo>
                  <a:pt x="15358" y="0"/>
                </a:moveTo>
                <a:lnTo>
                  <a:pt x="1792342" y="0"/>
                </a:lnTo>
                <a:lnTo>
                  <a:pt x="1792342" y="273645"/>
                </a:lnTo>
                <a:lnTo>
                  <a:pt x="0" y="273645"/>
                </a:lnTo>
                <a:lnTo>
                  <a:pt x="0" y="15358"/>
                </a:lnTo>
                <a:arcTo wR="15358" hR="15358" stAng="10800000" swAng="5400000"/>
                <a:close/>
              </a:path>
            </a:pathLst>
          </a:custGeom>
          <a:solidFill>
            <a:srgbClr val="1E5A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790853" y="1659533"/>
            <a:ext cx="2153092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Field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460365" y="1605359"/>
            <a:ext cx="1739658" cy="273645"/>
          </a:xfrm>
          <a:prstGeom prst="rect">
            <a:avLst/>
          </a:prstGeom>
          <a:solidFill>
            <a:srgbClr val="1E5A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2586370" y="1659533"/>
            <a:ext cx="2097233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Type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200023" y="1605359"/>
            <a:ext cx="1739658" cy="273645"/>
          </a:xfrm>
          <a:custGeom>
            <a:avLst/>
            <a:gdLst/>
            <a:ahLst/>
            <a:cxnLst/>
            <a:rect l="l" t="t" r="r" b="b"/>
            <a:pathLst>
              <a:path w="1739658" h="273645">
                <a:moveTo>
                  <a:pt x="0" y="0"/>
                </a:moveTo>
                <a:lnTo>
                  <a:pt x="1724300" y="0"/>
                </a:lnTo>
                <a:arcTo wR="15358" hR="15358" stAng="16200000" swAng="5400000"/>
                <a:lnTo>
                  <a:pt x="1739658" y="273645"/>
                </a:lnTo>
                <a:lnTo>
                  <a:pt x="0" y="273645"/>
                </a:lnTo>
                <a:lnTo>
                  <a:pt x="0" y="0"/>
                </a:lnTo>
                <a:close/>
              </a:path>
            </a:pathLst>
          </a:custGeom>
          <a:solidFill>
            <a:srgbClr val="1E5A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4326028" y="1659533"/>
            <a:ext cx="2100408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Constraint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790853" y="1936353"/>
            <a:ext cx="2153092" cy="1684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dirty="0">
                <a:solidFill>
                  <a:srgbClr val="D6D9D7"/>
                </a:solidFill>
                <a:highlight>
                  <a:srgbClr val="3A3E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_id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586370" y="1936353"/>
            <a:ext cx="2097233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ObjectId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326028" y="1936353"/>
            <a:ext cx="2100408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Primary Key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790853" y="2219523"/>
            <a:ext cx="2153092" cy="1684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dirty="0">
                <a:solidFill>
                  <a:srgbClr val="D6D9D7"/>
                </a:solidFill>
                <a:highlight>
                  <a:srgbClr val="3A3E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586370" y="2219523"/>
            <a:ext cx="2097233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String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326028" y="2219523"/>
            <a:ext cx="2100408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Required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790853" y="2502694"/>
            <a:ext cx="2153092" cy="1684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dirty="0">
                <a:solidFill>
                  <a:srgbClr val="D6D9D7"/>
                </a:solidFill>
                <a:highlight>
                  <a:srgbClr val="3A3E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email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586370" y="2502694"/>
            <a:ext cx="2097233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String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326028" y="2502694"/>
            <a:ext cx="2100408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Unique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790853" y="2785864"/>
            <a:ext cx="2153092" cy="1684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dirty="0">
                <a:solidFill>
                  <a:srgbClr val="D6D9D7"/>
                </a:solidFill>
                <a:highlight>
                  <a:srgbClr val="3A3E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password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2586370" y="2785864"/>
            <a:ext cx="2097233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String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326028" y="2785864"/>
            <a:ext cx="2100408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Hashed (Bcrypt)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790853" y="3069034"/>
            <a:ext cx="2153092" cy="1684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dirty="0">
                <a:solidFill>
                  <a:srgbClr val="D6D9D7"/>
                </a:solidFill>
                <a:highlight>
                  <a:srgbClr val="3A3E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role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2586370" y="3069034"/>
            <a:ext cx="2097233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Enum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326028" y="3069034"/>
            <a:ext cx="1490824" cy="3242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Quality Engineer / Factory Supervisor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790853" y="3507978"/>
            <a:ext cx="2153092" cy="1684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dirty="0">
                <a:solidFill>
                  <a:srgbClr val="D6D9D7"/>
                </a:solidFill>
                <a:highlight>
                  <a:srgbClr val="3A3E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created_at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2586370" y="3507978"/>
            <a:ext cx="2097233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DateTime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326028" y="3507978"/>
            <a:ext cx="2100408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 Generated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252014" y="1317228"/>
            <a:ext cx="5284556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Inspections Collection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252014" y="1599009"/>
            <a:ext cx="5284556" cy="2704306"/>
          </a:xfrm>
          <a:prstGeom prst="roundRect">
            <a:avLst>
              <a:gd name="adj" fmla="val 681"/>
            </a:avLst>
          </a:prstGeom>
          <a:noFill/>
          <a:ln w="6350">
            <a:solidFill>
              <a:srgbClr val="FFFFFF">
                <a:alpha val="24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Shape 37"/>
          <p:cNvSpPr/>
          <p:nvPr/>
        </p:nvSpPr>
        <p:spPr>
          <a:xfrm>
            <a:off x="6252014" y="1879005"/>
            <a:ext cx="5284556" cy="7679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40" name="Shape 38"/>
          <p:cNvSpPr/>
          <p:nvPr/>
        </p:nvSpPr>
        <p:spPr>
          <a:xfrm>
            <a:off x="6252014" y="2162175"/>
            <a:ext cx="5284556" cy="7679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41" name="Shape 39"/>
          <p:cNvSpPr/>
          <p:nvPr/>
        </p:nvSpPr>
        <p:spPr>
          <a:xfrm>
            <a:off x="6252014" y="2445345"/>
            <a:ext cx="5284556" cy="7679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42" name="Shape 40"/>
          <p:cNvSpPr/>
          <p:nvPr/>
        </p:nvSpPr>
        <p:spPr>
          <a:xfrm>
            <a:off x="6252014" y="2728516"/>
            <a:ext cx="5284556" cy="7679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43" name="Shape 41"/>
          <p:cNvSpPr/>
          <p:nvPr/>
        </p:nvSpPr>
        <p:spPr>
          <a:xfrm>
            <a:off x="6252014" y="3011686"/>
            <a:ext cx="5284556" cy="7679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44" name="Shape 42"/>
          <p:cNvSpPr/>
          <p:nvPr/>
        </p:nvSpPr>
        <p:spPr>
          <a:xfrm>
            <a:off x="6252014" y="3294856"/>
            <a:ext cx="5284556" cy="7679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45" name="Shape 43"/>
          <p:cNvSpPr/>
          <p:nvPr/>
        </p:nvSpPr>
        <p:spPr>
          <a:xfrm>
            <a:off x="6252014" y="3578027"/>
            <a:ext cx="5284556" cy="7679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46" name="Shape 44"/>
          <p:cNvSpPr/>
          <p:nvPr/>
        </p:nvSpPr>
        <p:spPr>
          <a:xfrm>
            <a:off x="6252014" y="4016970"/>
            <a:ext cx="5284556" cy="7679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47" name="Shape 45"/>
          <p:cNvSpPr/>
          <p:nvPr/>
        </p:nvSpPr>
        <p:spPr>
          <a:xfrm>
            <a:off x="8050904" y="1599009"/>
            <a:ext cx="7679" cy="2704306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48" name="Shape 46"/>
          <p:cNvSpPr/>
          <p:nvPr/>
        </p:nvSpPr>
        <p:spPr>
          <a:xfrm>
            <a:off x="9790562" y="1599009"/>
            <a:ext cx="7679" cy="2704306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49" name="Shape 47"/>
          <p:cNvSpPr/>
          <p:nvPr/>
        </p:nvSpPr>
        <p:spPr>
          <a:xfrm>
            <a:off x="6258562" y="1605359"/>
            <a:ext cx="1792342" cy="273645"/>
          </a:xfrm>
          <a:custGeom>
            <a:avLst/>
            <a:gdLst/>
            <a:ahLst/>
            <a:cxnLst/>
            <a:rect l="l" t="t" r="r" b="b"/>
            <a:pathLst>
              <a:path w="1792342" h="273645">
                <a:moveTo>
                  <a:pt x="15358" y="0"/>
                </a:moveTo>
                <a:lnTo>
                  <a:pt x="1792342" y="0"/>
                </a:lnTo>
                <a:lnTo>
                  <a:pt x="1792342" y="273645"/>
                </a:lnTo>
                <a:lnTo>
                  <a:pt x="0" y="273645"/>
                </a:lnTo>
                <a:lnTo>
                  <a:pt x="0" y="15358"/>
                </a:lnTo>
                <a:arcTo wR="15358" hR="15358" stAng="10800000" swAng="5400000"/>
                <a:close/>
              </a:path>
            </a:pathLst>
          </a:custGeom>
          <a:solidFill>
            <a:srgbClr val="1E5A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0" name="Text 48"/>
          <p:cNvSpPr/>
          <p:nvPr/>
        </p:nvSpPr>
        <p:spPr>
          <a:xfrm>
            <a:off x="6381392" y="1659533"/>
            <a:ext cx="2153092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Field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8050904" y="1605359"/>
            <a:ext cx="1739658" cy="273645"/>
          </a:xfrm>
          <a:prstGeom prst="rect">
            <a:avLst/>
          </a:prstGeom>
          <a:solidFill>
            <a:srgbClr val="1E5A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2" name="Text 50"/>
          <p:cNvSpPr/>
          <p:nvPr/>
        </p:nvSpPr>
        <p:spPr>
          <a:xfrm>
            <a:off x="8176909" y="1659533"/>
            <a:ext cx="2097233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Type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9790562" y="1605359"/>
            <a:ext cx="1739658" cy="273645"/>
          </a:xfrm>
          <a:custGeom>
            <a:avLst/>
            <a:gdLst/>
            <a:ahLst/>
            <a:cxnLst/>
            <a:rect l="l" t="t" r="r" b="b"/>
            <a:pathLst>
              <a:path w="1739658" h="273645">
                <a:moveTo>
                  <a:pt x="0" y="0"/>
                </a:moveTo>
                <a:lnTo>
                  <a:pt x="1724300" y="0"/>
                </a:lnTo>
                <a:arcTo wR="15358" hR="15358" stAng="16200000" swAng="5400000"/>
                <a:lnTo>
                  <a:pt x="1739658" y="273645"/>
                </a:lnTo>
                <a:lnTo>
                  <a:pt x="0" y="273645"/>
                </a:lnTo>
                <a:lnTo>
                  <a:pt x="0" y="0"/>
                </a:lnTo>
                <a:close/>
              </a:path>
            </a:pathLst>
          </a:custGeom>
          <a:solidFill>
            <a:srgbClr val="1E5A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4" name="Text 52"/>
          <p:cNvSpPr/>
          <p:nvPr/>
        </p:nvSpPr>
        <p:spPr>
          <a:xfrm>
            <a:off x="9916567" y="1659533"/>
            <a:ext cx="2100408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Constraint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6381392" y="1936353"/>
            <a:ext cx="2153092" cy="1684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dirty="0">
                <a:solidFill>
                  <a:srgbClr val="D6D9D7"/>
                </a:solidFill>
                <a:highlight>
                  <a:srgbClr val="3A3E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_id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8176909" y="1936353"/>
            <a:ext cx="2097233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ObjectId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9916567" y="1936353"/>
            <a:ext cx="2100408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Primary Key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6381392" y="2219523"/>
            <a:ext cx="2153092" cy="1684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dirty="0">
                <a:solidFill>
                  <a:srgbClr val="D6D9D7"/>
                </a:solidFill>
                <a:highlight>
                  <a:srgbClr val="3A3E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filename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8176909" y="2219523"/>
            <a:ext cx="2097233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String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9916567" y="2219523"/>
            <a:ext cx="2100408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Required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6381392" y="2502694"/>
            <a:ext cx="2153092" cy="1684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dirty="0">
                <a:solidFill>
                  <a:srgbClr val="D6D9D7"/>
                </a:solidFill>
                <a:highlight>
                  <a:srgbClr val="3A3E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filepath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8176909" y="2502694"/>
            <a:ext cx="2097233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String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9916567" y="2502694"/>
            <a:ext cx="2100408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Required</a:t>
            </a:r>
            <a:endParaRPr lang="en-US" sz="950" dirty="0"/>
          </a:p>
        </p:txBody>
      </p:sp>
      <p:sp>
        <p:nvSpPr>
          <p:cNvPr id="64" name="Text 62"/>
          <p:cNvSpPr/>
          <p:nvPr/>
        </p:nvSpPr>
        <p:spPr>
          <a:xfrm>
            <a:off x="6381392" y="2785864"/>
            <a:ext cx="2153092" cy="1684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dirty="0">
                <a:solidFill>
                  <a:srgbClr val="D6D9D7"/>
                </a:solidFill>
                <a:highlight>
                  <a:srgbClr val="3A3E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uploaded_by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8176909" y="2785864"/>
            <a:ext cx="2097233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ObjectId</a:t>
            </a:r>
            <a:endParaRPr lang="en-US" sz="950" dirty="0"/>
          </a:p>
        </p:txBody>
      </p:sp>
      <p:sp>
        <p:nvSpPr>
          <p:cNvPr id="66" name="Text 64"/>
          <p:cNvSpPr/>
          <p:nvPr/>
        </p:nvSpPr>
        <p:spPr>
          <a:xfrm>
            <a:off x="9916567" y="2785864"/>
            <a:ext cx="2100408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References User</a:t>
            </a:r>
            <a:endParaRPr lang="en-US" sz="950" dirty="0"/>
          </a:p>
        </p:txBody>
      </p:sp>
      <p:sp>
        <p:nvSpPr>
          <p:cNvPr id="67" name="Text 65"/>
          <p:cNvSpPr/>
          <p:nvPr/>
        </p:nvSpPr>
        <p:spPr>
          <a:xfrm>
            <a:off x="6381392" y="3069034"/>
            <a:ext cx="2153092" cy="1684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dirty="0">
                <a:solidFill>
                  <a:srgbClr val="D6D9D7"/>
                </a:solidFill>
                <a:highlight>
                  <a:srgbClr val="3A3E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uploaded_at</a:t>
            </a:r>
            <a:endParaRPr lang="en-US" sz="950" dirty="0"/>
          </a:p>
        </p:txBody>
      </p:sp>
      <p:sp>
        <p:nvSpPr>
          <p:cNvPr id="68" name="Text 66"/>
          <p:cNvSpPr/>
          <p:nvPr/>
        </p:nvSpPr>
        <p:spPr>
          <a:xfrm>
            <a:off x="8176909" y="3069034"/>
            <a:ext cx="2097233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DateTime</a:t>
            </a:r>
            <a:endParaRPr lang="en-US" sz="950" dirty="0"/>
          </a:p>
        </p:txBody>
      </p:sp>
      <p:sp>
        <p:nvSpPr>
          <p:cNvPr id="69" name="Text 67"/>
          <p:cNvSpPr/>
          <p:nvPr/>
        </p:nvSpPr>
        <p:spPr>
          <a:xfrm>
            <a:off x="9916567" y="3069034"/>
            <a:ext cx="2100408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 Generated</a:t>
            </a:r>
            <a:endParaRPr lang="en-US" sz="950" dirty="0"/>
          </a:p>
        </p:txBody>
      </p:sp>
      <p:sp>
        <p:nvSpPr>
          <p:cNvPr id="70" name="Text 68"/>
          <p:cNvSpPr/>
          <p:nvPr/>
        </p:nvSpPr>
        <p:spPr>
          <a:xfrm>
            <a:off x="6381392" y="3352205"/>
            <a:ext cx="2153092" cy="1684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dirty="0">
                <a:solidFill>
                  <a:srgbClr val="D6D9D7"/>
                </a:solidFill>
                <a:highlight>
                  <a:srgbClr val="3A3E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status</a:t>
            </a:r>
            <a:endParaRPr lang="en-US" sz="950" dirty="0"/>
          </a:p>
        </p:txBody>
      </p:sp>
      <p:sp>
        <p:nvSpPr>
          <p:cNvPr id="71" name="Text 69"/>
          <p:cNvSpPr/>
          <p:nvPr/>
        </p:nvSpPr>
        <p:spPr>
          <a:xfrm>
            <a:off x="8176909" y="3352205"/>
            <a:ext cx="2097233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Enum</a:t>
            </a:r>
            <a:endParaRPr lang="en-US" sz="950" dirty="0"/>
          </a:p>
        </p:txBody>
      </p:sp>
      <p:sp>
        <p:nvSpPr>
          <p:cNvPr id="72" name="Text 70"/>
          <p:cNvSpPr/>
          <p:nvPr/>
        </p:nvSpPr>
        <p:spPr>
          <a:xfrm>
            <a:off x="9916567" y="3352205"/>
            <a:ext cx="2100408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Pending / Completed</a:t>
            </a:r>
            <a:endParaRPr lang="en-US" sz="950" dirty="0"/>
          </a:p>
        </p:txBody>
      </p:sp>
      <p:sp>
        <p:nvSpPr>
          <p:cNvPr id="73" name="Text 71"/>
          <p:cNvSpPr/>
          <p:nvPr/>
        </p:nvSpPr>
        <p:spPr>
          <a:xfrm>
            <a:off x="6381392" y="3635375"/>
            <a:ext cx="2153092" cy="1684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dirty="0">
                <a:solidFill>
                  <a:srgbClr val="D6D9D7"/>
                </a:solidFill>
                <a:highlight>
                  <a:srgbClr val="3A3E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prediction</a:t>
            </a:r>
            <a:endParaRPr lang="en-US" sz="950" dirty="0"/>
          </a:p>
        </p:txBody>
      </p:sp>
      <p:sp>
        <p:nvSpPr>
          <p:cNvPr id="74" name="Text 72"/>
          <p:cNvSpPr/>
          <p:nvPr/>
        </p:nvSpPr>
        <p:spPr>
          <a:xfrm>
            <a:off x="8176909" y="3635375"/>
            <a:ext cx="2097233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String</a:t>
            </a:r>
            <a:endParaRPr lang="en-US" sz="950" dirty="0"/>
          </a:p>
        </p:txBody>
      </p:sp>
      <p:sp>
        <p:nvSpPr>
          <p:cNvPr id="75" name="Text 73"/>
          <p:cNvSpPr/>
          <p:nvPr/>
        </p:nvSpPr>
        <p:spPr>
          <a:xfrm>
            <a:off x="9916567" y="3635375"/>
            <a:ext cx="1490824" cy="3242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Nullable (Future AI Output)</a:t>
            </a:r>
            <a:endParaRPr lang="en-US" sz="950" dirty="0"/>
          </a:p>
        </p:txBody>
      </p:sp>
      <p:sp>
        <p:nvSpPr>
          <p:cNvPr id="76" name="Text 74"/>
          <p:cNvSpPr/>
          <p:nvPr/>
        </p:nvSpPr>
        <p:spPr>
          <a:xfrm>
            <a:off x="6381392" y="4074319"/>
            <a:ext cx="2153092" cy="1684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dirty="0">
                <a:solidFill>
                  <a:srgbClr val="D6D9D7"/>
                </a:solidFill>
                <a:highlight>
                  <a:srgbClr val="3A3E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confidence</a:t>
            </a:r>
            <a:endParaRPr lang="en-US" sz="950" dirty="0"/>
          </a:p>
        </p:txBody>
      </p:sp>
      <p:sp>
        <p:nvSpPr>
          <p:cNvPr id="77" name="Text 75"/>
          <p:cNvSpPr/>
          <p:nvPr/>
        </p:nvSpPr>
        <p:spPr>
          <a:xfrm>
            <a:off x="8176909" y="4074319"/>
            <a:ext cx="2097233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Float</a:t>
            </a:r>
            <a:endParaRPr lang="en-US" sz="950" dirty="0"/>
          </a:p>
        </p:txBody>
      </p:sp>
      <p:sp>
        <p:nvSpPr>
          <p:cNvPr id="78" name="Text 76"/>
          <p:cNvSpPr/>
          <p:nvPr/>
        </p:nvSpPr>
        <p:spPr>
          <a:xfrm>
            <a:off x="9916567" y="4074319"/>
            <a:ext cx="2100408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Nullable (Future AI Score)</a:t>
            </a:r>
            <a:endParaRPr lang="en-US" sz="950" dirty="0"/>
          </a:p>
        </p:txBody>
      </p:sp>
      <p:sp>
        <p:nvSpPr>
          <p:cNvPr id="79" name="Text 77"/>
          <p:cNvSpPr/>
          <p:nvPr/>
        </p:nvSpPr>
        <p:spPr>
          <a:xfrm>
            <a:off x="661475" y="4512866"/>
            <a:ext cx="10868745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Relationship</a:t>
            </a:r>
            <a:endParaRPr lang="en-US" sz="1200" dirty="0"/>
          </a:p>
        </p:txBody>
      </p:sp>
      <p:sp>
        <p:nvSpPr>
          <p:cNvPr id="80" name="Text 78"/>
          <p:cNvSpPr/>
          <p:nvPr/>
        </p:nvSpPr>
        <p:spPr>
          <a:xfrm>
            <a:off x="661475" y="4824611"/>
            <a:ext cx="11478330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Users → (uploaded_by) → Inspections</a:t>
            </a:r>
            <a:endParaRPr lang="en-US" sz="950" dirty="0"/>
          </a:p>
        </p:txBody>
      </p:sp>
      <p:sp>
        <p:nvSpPr>
          <p:cNvPr id="81" name="Shape 79"/>
          <p:cNvSpPr/>
          <p:nvPr/>
        </p:nvSpPr>
        <p:spPr>
          <a:xfrm>
            <a:off x="661475" y="5107186"/>
            <a:ext cx="10868745" cy="12700"/>
          </a:xfrm>
          <a:prstGeom prst="roundRect">
            <a:avLst>
              <a:gd name="adj" fmla="val 49999"/>
            </a:avLst>
          </a:prstGeom>
          <a:solidFill>
            <a:srgbClr val="D6D9D7">
              <a:alpha val="5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82" name="Text 80"/>
          <p:cNvSpPr/>
          <p:nvPr/>
        </p:nvSpPr>
        <p:spPr>
          <a:xfrm>
            <a:off x="661475" y="5270302"/>
            <a:ext cx="10868745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MongoDB (NoSQL) Database</a:t>
            </a:r>
            <a:endParaRPr lang="en-US" sz="1200" dirty="0"/>
          </a:p>
        </p:txBody>
      </p:sp>
      <p:sp>
        <p:nvSpPr>
          <p:cNvPr id="83" name="Text 81"/>
          <p:cNvSpPr/>
          <p:nvPr/>
        </p:nvSpPr>
        <p:spPr>
          <a:xfrm>
            <a:off x="661475" y="5582047"/>
            <a:ext cx="10868745" cy="5421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3040" indent="-193040" algn="l">
              <a:lnSpc>
                <a:spcPct val="110000"/>
              </a:lnSpc>
              <a:buSzPct val="100000"/>
              <a:buChar char="•"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Secure user authentication using JWT</a:t>
            </a:r>
            <a:endParaRPr lang="en-US" sz="950" dirty="0"/>
          </a:p>
          <a:p>
            <a:pPr marL="193040" indent="-193040" algn="l">
              <a:lnSpc>
                <a:spcPct val="110000"/>
              </a:lnSpc>
              <a:buSzPct val="100000"/>
              <a:buChar char="•"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Inspection records linked to users</a:t>
            </a:r>
            <a:endParaRPr lang="en-US" sz="950" dirty="0"/>
          </a:p>
          <a:p>
            <a:pPr marL="193040" indent="-193040" algn="l">
              <a:lnSpc>
                <a:spcPct val="110000"/>
              </a:lnSpc>
              <a:buSzPct val="100000"/>
              <a:buChar char="•"/>
            </a:pPr>
            <a:r>
              <a:rPr lang="en-US" sz="9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Designed for future AI prediction storage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59693"/>
            <a:ext cx="10868745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Authentication &amp; Role-Based Access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661475" y="1473994"/>
            <a:ext cx="6919442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Authentication Workflow</a:t>
            </a:r>
            <a:endParaRPr lang="en-US" sz="16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3698" y="1911945"/>
            <a:ext cx="6114996" cy="421411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16898" y="4534120"/>
            <a:ext cx="1671036" cy="2225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Register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2640859" y="2764481"/>
            <a:ext cx="1725324" cy="2225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Hash Password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3799072" y="5052398"/>
            <a:ext cx="1671037" cy="2225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Store in DB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282390" y="3230325"/>
            <a:ext cx="1671036" cy="2225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Login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002189" y="1512491"/>
            <a:ext cx="3534282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User Roles &amp; Permissions</a:t>
            </a:r>
            <a:endParaRPr lang="en-US" sz="165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02189" y="1950442"/>
            <a:ext cx="3534282" cy="199201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267493" y="2139553"/>
            <a:ext cx="3079871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Quality Engineer</a:t>
            </a:r>
            <a:endParaRPr lang="en-US" sz="1650" dirty="0"/>
          </a:p>
        </p:txBody>
      </p:sp>
      <p:sp>
        <p:nvSpPr>
          <p:cNvPr id="12" name="Text 8"/>
          <p:cNvSpPr/>
          <p:nvPr/>
        </p:nvSpPr>
        <p:spPr>
          <a:xfrm>
            <a:off x="8267493" y="2558355"/>
            <a:ext cx="3079871" cy="1194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Image upload</a:t>
            </a:r>
            <a:endParaRPr lang="en-US" sz="1300" dirty="0"/>
          </a:p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Inspection results</a:t>
            </a:r>
            <a:endParaRPr lang="en-US" sz="1300" dirty="0"/>
          </a:p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History</a:t>
            </a:r>
            <a:endParaRPr lang="en-US" sz="1300" dirty="0"/>
          </a:p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Quality reports</a:t>
            </a:r>
            <a:endParaRPr lang="en-US" sz="13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02189" y="4095552"/>
            <a:ext cx="3534282" cy="199201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267493" y="4284663"/>
            <a:ext cx="3079871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Factory Supervisor</a:t>
            </a:r>
            <a:endParaRPr lang="en-US" sz="1650" dirty="0"/>
          </a:p>
        </p:txBody>
      </p:sp>
      <p:sp>
        <p:nvSpPr>
          <p:cNvPr id="15" name="Text 10"/>
          <p:cNvSpPr/>
          <p:nvPr/>
        </p:nvSpPr>
        <p:spPr>
          <a:xfrm>
            <a:off x="8267493" y="4703465"/>
            <a:ext cx="3079871" cy="1194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Production overview</a:t>
            </a:r>
            <a:endParaRPr lang="en-US" sz="1300" dirty="0"/>
          </a:p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Inspection reports</a:t>
            </a:r>
            <a:endParaRPr lang="en-US" sz="1300" dirty="0"/>
          </a:p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Analytics</a:t>
            </a:r>
            <a:endParaRPr lang="en-US" sz="1300" dirty="0"/>
          </a:p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 management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85887"/>
            <a:ext cx="10868745" cy="502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Image Upload Workflow</a:t>
            </a:r>
            <a:endParaRPr lang="en-US" sz="31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083991"/>
            <a:ext cx="2614746" cy="952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106" y="2702520"/>
            <a:ext cx="2293483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Quality Engineer</a:t>
            </a:r>
            <a:endParaRPr lang="en-US" sz="1550" dirty="0"/>
          </a:p>
        </p:txBody>
      </p:sp>
      <p:sp>
        <p:nvSpPr>
          <p:cNvPr id="5" name="Text 2"/>
          <p:cNvSpPr/>
          <p:nvPr/>
        </p:nvSpPr>
        <p:spPr>
          <a:xfrm>
            <a:off x="822106" y="3035399"/>
            <a:ext cx="2293483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 role</a:t>
            </a:r>
            <a:endParaRPr lang="en-US" sz="12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2742" y="1842988"/>
            <a:ext cx="2614845" cy="9525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573373" y="2461518"/>
            <a:ext cx="2293582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Login</a:t>
            </a:r>
            <a:endParaRPr lang="en-US" sz="1550" dirty="0"/>
          </a:p>
        </p:txBody>
      </p:sp>
      <p:sp>
        <p:nvSpPr>
          <p:cNvPr id="8" name="Text 4"/>
          <p:cNvSpPr/>
          <p:nvPr/>
        </p:nvSpPr>
        <p:spPr>
          <a:xfrm>
            <a:off x="3573373" y="2794397"/>
            <a:ext cx="2293582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Authentication</a:t>
            </a:r>
            <a:endParaRPr lang="en-US" sz="12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4108" y="1601986"/>
            <a:ext cx="2614746" cy="9525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324739" y="2220516"/>
            <a:ext cx="2293483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Upload Product Image</a:t>
            </a:r>
            <a:endParaRPr lang="en-US" sz="1550" dirty="0"/>
          </a:p>
        </p:txBody>
      </p:sp>
      <p:sp>
        <p:nvSpPr>
          <p:cNvPr id="11" name="Text 6"/>
          <p:cNvSpPr/>
          <p:nvPr/>
        </p:nvSpPr>
        <p:spPr>
          <a:xfrm>
            <a:off x="6324739" y="2553395"/>
            <a:ext cx="2293483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File selection and upload</a:t>
            </a:r>
            <a:endParaRPr lang="en-US" sz="12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15375" y="1360984"/>
            <a:ext cx="2614845" cy="9525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076007" y="1979513"/>
            <a:ext cx="2293582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FastAPI Upload API</a:t>
            </a:r>
            <a:endParaRPr lang="en-US" sz="1550" dirty="0"/>
          </a:p>
        </p:txBody>
      </p:sp>
      <p:sp>
        <p:nvSpPr>
          <p:cNvPr id="14" name="Text 8"/>
          <p:cNvSpPr/>
          <p:nvPr/>
        </p:nvSpPr>
        <p:spPr>
          <a:xfrm>
            <a:off x="9076007" y="2312392"/>
            <a:ext cx="2293582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Backend endpoint</a:t>
            </a:r>
            <a:endParaRPr lang="en-US" sz="12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4293295"/>
            <a:ext cx="2614746" cy="95250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822106" y="4911824"/>
            <a:ext cx="2293483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Validate Request</a:t>
            </a:r>
            <a:endParaRPr lang="en-US" sz="1550" dirty="0"/>
          </a:p>
        </p:txBody>
      </p:sp>
      <p:sp>
        <p:nvSpPr>
          <p:cNvPr id="17" name="Text 10"/>
          <p:cNvSpPr/>
          <p:nvPr/>
        </p:nvSpPr>
        <p:spPr>
          <a:xfrm>
            <a:off x="822106" y="5244703"/>
            <a:ext cx="2293483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Check image format and integrity</a:t>
            </a:r>
            <a:endParaRPr lang="en-US" sz="125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2742" y="4052292"/>
            <a:ext cx="2614845" cy="952500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3573373" y="4670822"/>
            <a:ext cx="2293582" cy="5020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Store Image in Uploads Folder</a:t>
            </a:r>
            <a:endParaRPr lang="en-US" sz="1550" dirty="0"/>
          </a:p>
        </p:txBody>
      </p:sp>
      <p:sp>
        <p:nvSpPr>
          <p:cNvPr id="20" name="Text 12"/>
          <p:cNvSpPr/>
          <p:nvPr/>
        </p:nvSpPr>
        <p:spPr>
          <a:xfrm>
            <a:off x="3573373" y="5254724"/>
            <a:ext cx="2293582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Save file to disk</a:t>
            </a:r>
            <a:endParaRPr lang="en-US" sz="1250" dirty="0"/>
          </a:p>
        </p:txBody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4108" y="3811290"/>
            <a:ext cx="2614746" cy="952500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6324739" y="4429820"/>
            <a:ext cx="2293483" cy="5020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Save Inspection Metadata to MongoDB</a:t>
            </a:r>
            <a:endParaRPr lang="en-US" sz="1550" dirty="0"/>
          </a:p>
        </p:txBody>
      </p:sp>
      <p:sp>
        <p:nvSpPr>
          <p:cNvPr id="23" name="Text 14"/>
          <p:cNvSpPr/>
          <p:nvPr/>
        </p:nvSpPr>
        <p:spPr>
          <a:xfrm>
            <a:off x="6324739" y="5013722"/>
            <a:ext cx="2293483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Store inspection details</a:t>
            </a:r>
            <a:endParaRPr lang="en-US" sz="1250" dirty="0"/>
          </a:p>
        </p:txBody>
      </p:sp>
      <p:pic>
        <p:nvPicPr>
          <p:cNvPr id="24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15375" y="3570287"/>
            <a:ext cx="2614845" cy="952500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9076007" y="4188817"/>
            <a:ext cx="2293582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Inspection History</a:t>
            </a:r>
            <a:endParaRPr lang="en-US" sz="1550" dirty="0"/>
          </a:p>
        </p:txBody>
      </p:sp>
      <p:sp>
        <p:nvSpPr>
          <p:cNvPr id="26" name="Text 16"/>
          <p:cNvSpPr/>
          <p:nvPr/>
        </p:nvSpPr>
        <p:spPr>
          <a:xfrm>
            <a:off x="9076007" y="4521696"/>
            <a:ext cx="2293582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Access results</a:t>
            </a:r>
            <a:endParaRPr lang="en-US" sz="1250" dirty="0"/>
          </a:p>
        </p:txBody>
      </p:sp>
      <p:sp>
        <p:nvSpPr>
          <p:cNvPr id="27" name="Text 17"/>
          <p:cNvSpPr/>
          <p:nvPr/>
        </p:nvSpPr>
        <p:spPr>
          <a:xfrm>
            <a:off x="661475" y="6034385"/>
            <a:ext cx="11478330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uploaded image and its metadata are securely stored in MongoDB and are ready for AI processing.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49486"/>
            <a:ext cx="10868745" cy="561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REST APIs &amp; Workflow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661475" y="1637109"/>
            <a:ext cx="5780637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Implemented Endpoints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661475" y="2109490"/>
            <a:ext cx="5780637" cy="3131355"/>
          </a:xfrm>
          <a:prstGeom prst="roundRect">
            <a:avLst>
              <a:gd name="adj" fmla="val 689"/>
            </a:avLst>
          </a:prstGeom>
          <a:noFill/>
          <a:ln w="6350">
            <a:solidFill>
              <a:srgbClr val="FFFFFF">
                <a:alpha val="24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661475" y="2616398"/>
            <a:ext cx="5780637" cy="11223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661475" y="3126482"/>
            <a:ext cx="5780637" cy="11223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661475" y="3636566"/>
            <a:ext cx="5780637" cy="11223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661475" y="4433094"/>
            <a:ext cx="5780637" cy="11223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661475" y="5229622"/>
            <a:ext cx="5780637" cy="11223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2590735" y="2109490"/>
            <a:ext cx="45719" cy="3131355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 flipH="1">
            <a:off x="4467231" y="2109491"/>
            <a:ext cx="45719" cy="3131354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668519" y="2115840"/>
            <a:ext cx="1922216" cy="500559"/>
          </a:xfrm>
          <a:custGeom>
            <a:avLst/>
            <a:gdLst/>
            <a:ahLst/>
            <a:cxnLst/>
            <a:rect l="l" t="t" r="r" b="b"/>
            <a:pathLst>
              <a:path w="1922216" h="500559">
                <a:moveTo>
                  <a:pt x="22446" y="0"/>
                </a:moveTo>
                <a:lnTo>
                  <a:pt x="1922216" y="0"/>
                </a:lnTo>
                <a:lnTo>
                  <a:pt x="1922216" y="500559"/>
                </a:lnTo>
                <a:lnTo>
                  <a:pt x="0" y="500559"/>
                </a:lnTo>
                <a:lnTo>
                  <a:pt x="0" y="22446"/>
                </a:lnTo>
                <a:arcTo wR="22446" hR="22446" stAng="10800000" swAng="5400000"/>
                <a:close/>
              </a:path>
            </a:pathLst>
          </a:custGeom>
          <a:solidFill>
            <a:srgbClr val="AC9EF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848001" y="2224484"/>
            <a:ext cx="2169661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Endpoint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590735" y="2115840"/>
            <a:ext cx="1922216" cy="500559"/>
          </a:xfrm>
          <a:prstGeom prst="rect">
            <a:avLst/>
          </a:prstGeom>
          <a:solidFill>
            <a:srgbClr val="AC9EF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2773392" y="2224484"/>
            <a:ext cx="2166486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Method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12951" y="2115840"/>
            <a:ext cx="1922216" cy="500559"/>
          </a:xfrm>
          <a:custGeom>
            <a:avLst/>
            <a:gdLst/>
            <a:ahLst/>
            <a:cxnLst/>
            <a:rect l="l" t="t" r="r" b="b"/>
            <a:pathLst>
              <a:path w="1922216" h="500559">
                <a:moveTo>
                  <a:pt x="0" y="0"/>
                </a:moveTo>
                <a:lnTo>
                  <a:pt x="1899770" y="0"/>
                </a:lnTo>
                <a:arcTo wR="22446" hR="22446" stAng="16200000" swAng="5400000"/>
                <a:lnTo>
                  <a:pt x="1922216" y="500559"/>
                </a:lnTo>
                <a:lnTo>
                  <a:pt x="0" y="500559"/>
                </a:lnTo>
                <a:lnTo>
                  <a:pt x="0" y="0"/>
                </a:lnTo>
                <a:close/>
              </a:path>
            </a:pathLst>
          </a:custGeom>
          <a:solidFill>
            <a:srgbClr val="AC9EF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4695608" y="2224484"/>
            <a:ext cx="2169661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Purpose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8001" y="2728218"/>
            <a:ext cx="2169661" cy="286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D6D9D7"/>
                </a:solidFill>
                <a:highlight>
                  <a:srgbClr val="3A3E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/auth/register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773392" y="2728218"/>
            <a:ext cx="2166486" cy="286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D6D9D7"/>
                </a:solidFill>
                <a:highlight>
                  <a:srgbClr val="3A3E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POST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695608" y="2728218"/>
            <a:ext cx="2169661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Register User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8001" y="3238302"/>
            <a:ext cx="2169661" cy="286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D6D9D7"/>
                </a:solidFill>
                <a:highlight>
                  <a:srgbClr val="3A3E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/auth/login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2773392" y="3238302"/>
            <a:ext cx="2166486" cy="286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D6D9D7"/>
                </a:solidFill>
                <a:highlight>
                  <a:srgbClr val="3A3E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POST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695608" y="3238302"/>
            <a:ext cx="2169661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Login User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48001" y="3748385"/>
            <a:ext cx="1560077" cy="5728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D6D9D7"/>
                </a:solidFill>
                <a:highlight>
                  <a:srgbClr val="3A3E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/inspection/upload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2773392" y="3748385"/>
            <a:ext cx="2166486" cy="286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D6D9D7"/>
                </a:solidFill>
                <a:highlight>
                  <a:srgbClr val="3A3E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POST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695608" y="3748385"/>
            <a:ext cx="2169661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Upload Image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48001" y="4544913"/>
            <a:ext cx="1560077" cy="5728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D6D9D7"/>
                </a:solidFill>
                <a:highlight>
                  <a:srgbClr val="3A3E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/inspection/history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2773392" y="4544913"/>
            <a:ext cx="2166486" cy="286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D6D9D7"/>
                </a:solidFill>
                <a:highlight>
                  <a:srgbClr val="3A3E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695608" y="4544913"/>
            <a:ext cx="2169661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Inspection History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886601" y="1637109"/>
            <a:ext cx="4649870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Workflow</a:t>
            </a:r>
            <a:endParaRPr lang="en-US" sz="1750" dirty="0"/>
          </a:p>
        </p:txBody>
      </p:sp>
      <p:pic>
        <p:nvPicPr>
          <p:cNvPr id="3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2883" y="2109490"/>
            <a:ext cx="4417307" cy="2339677"/>
          </a:xfrm>
          <a:prstGeom prst="rect">
            <a:avLst/>
          </a:prstGeom>
        </p:spPr>
      </p:pic>
      <p:sp>
        <p:nvSpPr>
          <p:cNvPr id="35" name="Text 32"/>
          <p:cNvSpPr/>
          <p:nvPr/>
        </p:nvSpPr>
        <p:spPr>
          <a:xfrm>
            <a:off x="7614519" y="3781652"/>
            <a:ext cx="1092146" cy="136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8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User Login</a:t>
            </a:r>
            <a:endParaRPr lang="en-US" sz="850" dirty="0"/>
          </a:p>
        </p:txBody>
      </p:sp>
      <p:sp>
        <p:nvSpPr>
          <p:cNvPr id="36" name="Text 33"/>
          <p:cNvSpPr/>
          <p:nvPr/>
        </p:nvSpPr>
        <p:spPr>
          <a:xfrm>
            <a:off x="7536855" y="3957006"/>
            <a:ext cx="1169809" cy="2129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02000"/>
              </a:lnSpc>
              <a:buNone/>
            </a:pPr>
            <a:r>
              <a:rPr lang="en-US" sz="6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Authenticate via /auth/login endpoint.</a:t>
            </a:r>
            <a:endParaRPr lang="en-US" sz="650" dirty="0"/>
          </a:p>
        </p:txBody>
      </p:sp>
      <p:sp>
        <p:nvSpPr>
          <p:cNvPr id="37" name="Text 34"/>
          <p:cNvSpPr/>
          <p:nvPr/>
        </p:nvSpPr>
        <p:spPr>
          <a:xfrm>
            <a:off x="7187369" y="2282038"/>
            <a:ext cx="1092145" cy="136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8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Upload Image</a:t>
            </a:r>
            <a:endParaRPr lang="en-US" sz="850" dirty="0"/>
          </a:p>
        </p:txBody>
      </p:sp>
      <p:sp>
        <p:nvSpPr>
          <p:cNvPr id="38" name="Text 35"/>
          <p:cNvSpPr/>
          <p:nvPr/>
        </p:nvSpPr>
        <p:spPr>
          <a:xfrm>
            <a:off x="7109705" y="2457392"/>
            <a:ext cx="1169809" cy="319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02000"/>
              </a:lnSpc>
              <a:buNone/>
            </a:pPr>
            <a:r>
              <a:rPr lang="en-US" sz="6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Send image to /inspection/upload endpoint.</a:t>
            </a:r>
            <a:endParaRPr lang="en-US" sz="650" dirty="0"/>
          </a:p>
        </p:txBody>
      </p:sp>
      <p:sp>
        <p:nvSpPr>
          <p:cNvPr id="39" name="Text 36"/>
          <p:cNvSpPr/>
          <p:nvPr/>
        </p:nvSpPr>
        <p:spPr>
          <a:xfrm>
            <a:off x="9730854" y="2388525"/>
            <a:ext cx="1092145" cy="136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Save to MongoDB</a:t>
            </a:r>
            <a:endParaRPr lang="en-US" sz="850" dirty="0"/>
          </a:p>
        </p:txBody>
      </p:sp>
      <p:sp>
        <p:nvSpPr>
          <p:cNvPr id="40" name="Text 37"/>
          <p:cNvSpPr/>
          <p:nvPr/>
        </p:nvSpPr>
        <p:spPr>
          <a:xfrm>
            <a:off x="9730854" y="2563879"/>
            <a:ext cx="1169809" cy="212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6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Persist image and metadata in database.</a:t>
            </a:r>
            <a:endParaRPr lang="en-US" sz="650" dirty="0"/>
          </a:p>
        </p:txBody>
      </p:sp>
      <p:sp>
        <p:nvSpPr>
          <p:cNvPr id="41" name="Text 38"/>
          <p:cNvSpPr/>
          <p:nvPr/>
        </p:nvSpPr>
        <p:spPr>
          <a:xfrm>
            <a:off x="10143442" y="3781727"/>
            <a:ext cx="1092146" cy="136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Inspection History</a:t>
            </a:r>
            <a:endParaRPr lang="en-US" sz="850" dirty="0"/>
          </a:p>
        </p:txBody>
      </p:sp>
      <p:sp>
        <p:nvSpPr>
          <p:cNvPr id="42" name="Text 39"/>
          <p:cNvSpPr/>
          <p:nvPr/>
        </p:nvSpPr>
        <p:spPr>
          <a:xfrm>
            <a:off x="10143442" y="3957082"/>
            <a:ext cx="1169809" cy="212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6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Retrieve records from /inspection/history.</a:t>
            </a:r>
            <a:endParaRPr lang="en-US" sz="650" dirty="0"/>
          </a:p>
        </p:txBody>
      </p:sp>
      <p:sp>
        <p:nvSpPr>
          <p:cNvPr id="43" name="Text 40"/>
          <p:cNvSpPr/>
          <p:nvPr/>
        </p:nvSpPr>
        <p:spPr>
          <a:xfrm>
            <a:off x="6886601" y="4641056"/>
            <a:ext cx="4649870" cy="8402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Authenticated users upload images, the system saves inspection data to MongoDB, and history can be retrieved later.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549797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Features Implemented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612926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Quality Engineer Dashboard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661475" y="3097213"/>
            <a:ext cx="5203794" cy="21449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Dashboard overview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Upload product images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 inspection results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Defect details and analysis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Inspection history tracking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Quality reports generation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332776" y="2612926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Factory Supervisor Dashboard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6332776" y="3097213"/>
            <a:ext cx="5203794" cy="21449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Production overview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Inspection reports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Defect trend analysis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Quality analytics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Production monitoring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 management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89570"/>
            <a:ext cx="10868745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Dataset Integration &amp; Image Preprocessing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661475" y="1603871"/>
            <a:ext cx="4098525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MVTec AD Dataset</a:t>
            </a:r>
            <a:endParaRPr lang="en-US" sz="1650" dirty="0"/>
          </a:p>
        </p:txBody>
      </p:sp>
      <p:sp>
        <p:nvSpPr>
          <p:cNvPr id="4" name="Shape 2"/>
          <p:cNvSpPr/>
          <p:nvPr/>
        </p:nvSpPr>
        <p:spPr>
          <a:xfrm>
            <a:off x="661475" y="2041823"/>
            <a:ext cx="4098525" cy="3954264"/>
          </a:xfrm>
          <a:prstGeom prst="roundRect">
            <a:avLst>
              <a:gd name="adj" fmla="val 645"/>
            </a:avLst>
          </a:prstGeom>
          <a:noFill/>
          <a:ln w="6350">
            <a:solidFill>
              <a:srgbClr val="FFFFFF">
                <a:alpha val="24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661475" y="2764730"/>
            <a:ext cx="4098525" cy="10633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661475" y="3225899"/>
            <a:ext cx="4098525" cy="10633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661475" y="3687068"/>
            <a:ext cx="4098525" cy="10633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661475" y="4148237"/>
            <a:ext cx="4098525" cy="10633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661475" y="4609405"/>
            <a:ext cx="4098525" cy="10633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661475" y="5070574"/>
            <a:ext cx="4098525" cy="10633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661475" y="5531743"/>
            <a:ext cx="4098525" cy="10633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2030064" y="2041823"/>
            <a:ext cx="10632" cy="3954264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3391609" y="2041823"/>
            <a:ext cx="10632" cy="3954264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668519" y="2048173"/>
            <a:ext cx="1361545" cy="716558"/>
          </a:xfrm>
          <a:custGeom>
            <a:avLst/>
            <a:gdLst/>
            <a:ahLst/>
            <a:cxnLst/>
            <a:rect l="l" t="t" r="r" b="b"/>
            <a:pathLst>
              <a:path w="1361545" h="716558">
                <a:moveTo>
                  <a:pt x="21265" y="0"/>
                </a:moveTo>
                <a:lnTo>
                  <a:pt x="1361545" y="0"/>
                </a:lnTo>
                <a:lnTo>
                  <a:pt x="1361545" y="716558"/>
                </a:lnTo>
                <a:lnTo>
                  <a:pt x="0" y="716558"/>
                </a:lnTo>
                <a:lnTo>
                  <a:pt x="0" y="21265"/>
                </a:lnTo>
                <a:arcTo wR="21265" hR="21265" stAng="10800000" swAng="5400000"/>
                <a:close/>
              </a:path>
            </a:pathLst>
          </a:custGeom>
          <a:solidFill>
            <a:srgbClr val="2F6FE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838576" y="2146300"/>
            <a:ext cx="1627841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Category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030064" y="2048173"/>
            <a:ext cx="1361545" cy="716558"/>
          </a:xfrm>
          <a:prstGeom prst="rect">
            <a:avLst/>
          </a:prstGeom>
          <a:solidFill>
            <a:srgbClr val="2F6FE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2203296" y="2146300"/>
            <a:ext cx="1015082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Train Images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391609" y="2048173"/>
            <a:ext cx="1361545" cy="716558"/>
          </a:xfrm>
          <a:custGeom>
            <a:avLst/>
            <a:gdLst/>
            <a:ahLst/>
            <a:cxnLst/>
            <a:rect l="l" t="t" r="r" b="b"/>
            <a:pathLst>
              <a:path w="1361545" h="716558">
                <a:moveTo>
                  <a:pt x="0" y="0"/>
                </a:moveTo>
                <a:lnTo>
                  <a:pt x="1340280" y="0"/>
                </a:lnTo>
                <a:arcTo wR="21265" hR="21265" stAng="16200000" swAng="5400000"/>
                <a:lnTo>
                  <a:pt x="1361545" y="716558"/>
                </a:lnTo>
                <a:lnTo>
                  <a:pt x="0" y="716558"/>
                </a:lnTo>
                <a:lnTo>
                  <a:pt x="0" y="0"/>
                </a:lnTo>
                <a:close/>
              </a:path>
            </a:pathLst>
          </a:custGeom>
          <a:solidFill>
            <a:srgbClr val="2F6FE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3564841" y="2146300"/>
            <a:ext cx="1627841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Test Images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38576" y="2866033"/>
            <a:ext cx="1627841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Bottle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203296" y="2866033"/>
            <a:ext cx="1624666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209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564841" y="2866033"/>
            <a:ext cx="1627841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38576" y="3327202"/>
            <a:ext cx="1627841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Cable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203296" y="3327202"/>
            <a:ext cx="1624666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224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564841" y="3327202"/>
            <a:ext cx="1627841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150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38576" y="3788370"/>
            <a:ext cx="1627841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Capsule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2203296" y="3788370"/>
            <a:ext cx="1624666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219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564841" y="3788370"/>
            <a:ext cx="1627841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132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38576" y="4249539"/>
            <a:ext cx="1627841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Carpet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2203296" y="4249539"/>
            <a:ext cx="1624666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280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564841" y="4249539"/>
            <a:ext cx="1627841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117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38576" y="4710708"/>
            <a:ext cx="1627841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Screw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2203296" y="4710708"/>
            <a:ext cx="1624666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320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3564841" y="4710708"/>
            <a:ext cx="1627841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160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838576" y="5171877"/>
            <a:ext cx="1627841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Wood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2203296" y="5171877"/>
            <a:ext cx="1624666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247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3564841" y="5171877"/>
            <a:ext cx="1627841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79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838576" y="5633045"/>
            <a:ext cx="1627841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Zipper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2203296" y="5633045"/>
            <a:ext cx="1624666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240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3564841" y="5633045"/>
            <a:ext cx="1627841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151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5181272" y="1603871"/>
            <a:ext cx="6355199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Image Preprocessing Pipeline</a:t>
            </a:r>
            <a:endParaRPr lang="en-US" sz="1650" dirty="0"/>
          </a:p>
        </p:txBody>
      </p:sp>
      <p:pic>
        <p:nvPicPr>
          <p:cNvPr id="4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9062" y="2041823"/>
            <a:ext cx="5719619" cy="2617688"/>
          </a:xfrm>
          <a:prstGeom prst="rect">
            <a:avLst/>
          </a:prstGeom>
        </p:spPr>
      </p:pic>
      <p:sp>
        <p:nvSpPr>
          <p:cNvPr id="43" name="Text 40"/>
          <p:cNvSpPr/>
          <p:nvPr/>
        </p:nvSpPr>
        <p:spPr>
          <a:xfrm>
            <a:off x="9878566" y="3934464"/>
            <a:ext cx="1073792" cy="4137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Normalize 0-1</a:t>
            </a:r>
            <a:endParaRPr lang="en-US" sz="1300" dirty="0"/>
          </a:p>
        </p:txBody>
      </p:sp>
      <p:sp>
        <p:nvSpPr>
          <p:cNvPr id="44" name="Text 41"/>
          <p:cNvSpPr/>
          <p:nvPr/>
        </p:nvSpPr>
        <p:spPr>
          <a:xfrm>
            <a:off x="8525294" y="3934464"/>
            <a:ext cx="1073791" cy="4137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Resize 256×256</a:t>
            </a:r>
            <a:endParaRPr lang="en-US" sz="1300" dirty="0"/>
          </a:p>
        </p:txBody>
      </p:sp>
      <p:sp>
        <p:nvSpPr>
          <p:cNvPr id="45" name="Text 42"/>
          <p:cNvSpPr/>
          <p:nvPr/>
        </p:nvSpPr>
        <p:spPr>
          <a:xfrm>
            <a:off x="7179378" y="4037892"/>
            <a:ext cx="1073791" cy="2068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Convert RGB</a:t>
            </a:r>
            <a:endParaRPr lang="en-US" sz="1300" dirty="0"/>
          </a:p>
        </p:txBody>
      </p:sp>
      <p:sp>
        <p:nvSpPr>
          <p:cNvPr id="46" name="Text 43"/>
          <p:cNvSpPr/>
          <p:nvPr/>
        </p:nvSpPr>
        <p:spPr>
          <a:xfrm>
            <a:off x="5804042" y="4037892"/>
            <a:ext cx="1073791" cy="2068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Load Image</a:t>
            </a:r>
            <a:endParaRPr lang="en-US" sz="1300" dirty="0"/>
          </a:p>
        </p:txBody>
      </p:sp>
      <p:sp>
        <p:nvSpPr>
          <p:cNvPr id="47" name="Text 44"/>
          <p:cNvSpPr/>
          <p:nvPr/>
        </p:nvSpPr>
        <p:spPr>
          <a:xfrm>
            <a:off x="5181272" y="4831755"/>
            <a:ext cx="6964784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b="1" dirty="0">
                <a:solidFill>
                  <a:srgbClr val="D6D9D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Purpose:</a:t>
            </a:r>
            <a:r>
              <a:rPr lang="en-US" sz="13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Standardize inputs for AI model training and real-time inference.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0721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Project Demonstration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499394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Milestone 1 Live Walkthrough — All Components Verified and Operational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61475" y="2014438"/>
            <a:ext cx="5339820" cy="1139924"/>
          </a:xfrm>
          <a:prstGeom prst="roundRect">
            <a:avLst>
              <a:gd name="adj" fmla="val 2487"/>
            </a:avLst>
          </a:prstGeom>
          <a:solidFill>
            <a:srgbClr val="2D3133"/>
          </a:solidFill>
          <a:ln w="25399">
            <a:solidFill>
              <a:srgbClr val="65696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875881" y="2228850"/>
            <a:ext cx="491100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Login Page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875881" y="2637532"/>
            <a:ext cx="4911007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Secure JWT authentication with role detection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190301" y="2014438"/>
            <a:ext cx="5339919" cy="1139924"/>
          </a:xfrm>
          <a:prstGeom prst="roundRect">
            <a:avLst>
              <a:gd name="adj" fmla="val 2487"/>
            </a:avLst>
          </a:prstGeom>
          <a:solidFill>
            <a:srgbClr val="2D3133"/>
          </a:solidFill>
          <a:ln w="25399">
            <a:solidFill>
              <a:srgbClr val="65696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6404708" y="2228850"/>
            <a:ext cx="49111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Quality Engineer Dashboard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6404708" y="2637532"/>
            <a:ext cx="491110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Image upload and inspection management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61475" y="3343374"/>
            <a:ext cx="5339820" cy="1139924"/>
          </a:xfrm>
          <a:prstGeom prst="roundRect">
            <a:avLst>
              <a:gd name="adj" fmla="val 2487"/>
            </a:avLst>
          </a:prstGeom>
          <a:solidFill>
            <a:srgbClr val="2D3133"/>
          </a:solidFill>
          <a:ln w="25399">
            <a:solidFill>
              <a:srgbClr val="65696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875881" y="3557786"/>
            <a:ext cx="491100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Factory Supervisor Dashboard</a:t>
            </a:r>
            <a:endParaRPr lang="en-US" sz="1850" dirty="0"/>
          </a:p>
        </p:txBody>
      </p:sp>
      <p:sp>
        <p:nvSpPr>
          <p:cNvPr id="12" name="Text 10"/>
          <p:cNvSpPr/>
          <p:nvPr/>
        </p:nvSpPr>
        <p:spPr>
          <a:xfrm>
            <a:off x="875881" y="3966468"/>
            <a:ext cx="4911007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Production analytics and reporting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190301" y="3343374"/>
            <a:ext cx="5339919" cy="1139924"/>
          </a:xfrm>
          <a:prstGeom prst="roundRect">
            <a:avLst>
              <a:gd name="adj" fmla="val 2487"/>
            </a:avLst>
          </a:prstGeom>
          <a:solidFill>
            <a:srgbClr val="2D3133"/>
          </a:solidFill>
          <a:ln w="25399">
            <a:solidFill>
              <a:srgbClr val="65696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6404708" y="3557786"/>
            <a:ext cx="49111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MongoDB Compass</a:t>
            </a:r>
            <a:endParaRPr lang="en-US" sz="1850" dirty="0"/>
          </a:p>
        </p:txBody>
      </p:sp>
      <p:sp>
        <p:nvSpPr>
          <p:cNvPr id="15" name="Text 13"/>
          <p:cNvSpPr/>
          <p:nvPr/>
        </p:nvSpPr>
        <p:spPr>
          <a:xfrm>
            <a:off x="6404708" y="3966468"/>
            <a:ext cx="491110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collections and data verification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61475" y="4672310"/>
            <a:ext cx="5339820" cy="1139924"/>
          </a:xfrm>
          <a:prstGeom prst="roundRect">
            <a:avLst>
              <a:gd name="adj" fmla="val 2487"/>
            </a:avLst>
          </a:prstGeom>
          <a:solidFill>
            <a:srgbClr val="2D3133"/>
          </a:solidFill>
          <a:ln w="25399">
            <a:solidFill>
              <a:srgbClr val="65696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875881" y="4886722"/>
            <a:ext cx="491100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Postman API Testing</a:t>
            </a:r>
            <a:endParaRPr lang="en-US" sz="1850" dirty="0"/>
          </a:p>
        </p:txBody>
      </p:sp>
      <p:sp>
        <p:nvSpPr>
          <p:cNvPr id="18" name="Text 16"/>
          <p:cNvSpPr/>
          <p:nvPr/>
        </p:nvSpPr>
        <p:spPr>
          <a:xfrm>
            <a:off x="875881" y="5295404"/>
            <a:ext cx="4911007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Endpoint validation and response verification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6190301" y="4672310"/>
            <a:ext cx="5339919" cy="1139924"/>
          </a:xfrm>
          <a:prstGeom prst="roundRect">
            <a:avLst>
              <a:gd name="adj" fmla="val 2487"/>
            </a:avLst>
          </a:prstGeom>
          <a:solidFill>
            <a:srgbClr val="2D3133"/>
          </a:solidFill>
          <a:ln w="25399">
            <a:solidFill>
              <a:srgbClr val="65696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6404708" y="4886722"/>
            <a:ext cx="49111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Inspection History</a:t>
            </a:r>
            <a:endParaRPr lang="en-US" sz="1850" dirty="0"/>
          </a:p>
        </p:txBody>
      </p:sp>
      <p:sp>
        <p:nvSpPr>
          <p:cNvPr id="21" name="Text 19"/>
          <p:cNvSpPr/>
          <p:nvPr/>
        </p:nvSpPr>
        <p:spPr>
          <a:xfrm>
            <a:off x="6404708" y="5295404"/>
            <a:ext cx="491110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Historical data tracking and retrieval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661475" y="6024860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Milestone 1 Successfully Completed</a:t>
            </a:r>
            <a:endParaRPr lang="en-US" sz="14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2755702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7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Thank You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356682" y="3724374"/>
            <a:ext cx="11478330" cy="377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endParaRPr lang="en-US" sz="1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650</Words>
  <Application>Microsoft Office PowerPoint</Application>
  <PresentationFormat>Widescreen</PresentationFormat>
  <Paragraphs>242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Inter</vt:lpstr>
      <vt:lpstr>DM Sans Medium</vt:lpstr>
      <vt:lpstr>Arial</vt:lpstr>
      <vt:lpstr>Inter Bold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murali sankar reddy</cp:lastModifiedBy>
  <cp:revision>3</cp:revision>
  <dcterms:created xsi:type="dcterms:W3CDTF">2026-08-05T09:01:58Z</dcterms:created>
  <dcterms:modified xsi:type="dcterms:W3CDTF">2026-08-05T09:06:41Z</dcterms:modified>
</cp:coreProperties>
</file>