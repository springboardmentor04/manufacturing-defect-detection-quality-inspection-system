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842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480D5-6E8E-F035-B442-431B5BA10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A4DBFB-83AA-7323-91F5-2E935DBFF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7227E-F292-F948-8378-45ACA1629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2169B-406E-8749-DA85-F11351FF5C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49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0CDD1-A8C4-9886-19EC-DE7E8B31F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C79E87-DD9D-4A1B-172C-321BCC745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E596E-7EF4-769E-6E52-0F659AE87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04A87-E60A-BF85-1487-DC6C8D7D50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294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E057E320-2CDF-B908-1871-B07169ACCC3D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C"/>
          </a:solidFill>
          <a:ln/>
        </p:spPr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sz="3200" dirty="0"/>
              <a:t>                                      </a:t>
            </a:r>
            <a:r>
              <a:rPr lang="en-IN" sz="3200" dirty="0">
                <a:solidFill>
                  <a:schemeClr val="bg2"/>
                </a:solidFill>
              </a:rPr>
              <a:t>VEENESHWARI R</a:t>
            </a:r>
            <a:br>
              <a:rPr lang="en-IN" sz="3200" dirty="0">
                <a:solidFill>
                  <a:schemeClr val="bg2"/>
                </a:solidFill>
              </a:rPr>
            </a:br>
            <a:r>
              <a:rPr lang="en-IN" sz="3200" dirty="0">
                <a:solidFill>
                  <a:schemeClr val="bg2"/>
                </a:solidFill>
              </a:rPr>
              <a:t>                                           S.D.N.B.V.C</a:t>
            </a: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304F610E-1157-B964-EDF7-9631299EC507}"/>
              </a:ext>
            </a:extLst>
          </p:cNvPr>
          <p:cNvSpPr/>
          <p:nvPr/>
        </p:nvSpPr>
        <p:spPr>
          <a:xfrm>
            <a:off x="8503920" y="-2011680"/>
            <a:ext cx="6400800" cy="6400800"/>
          </a:xfrm>
          <a:prstGeom prst="ellipse">
            <a:avLst/>
          </a:prstGeom>
          <a:solidFill>
            <a:srgbClr val="1CA97C">
              <a:alpha val="15000"/>
            </a:srgbClr>
          </a:solidFill>
          <a:ln/>
        </p:spPr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9EB2858D-6033-2D2D-B35B-D6DBAB7E942A}"/>
              </a:ext>
            </a:extLst>
          </p:cNvPr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CA97C">
              <a:alpha val="10000"/>
            </a:srgbClr>
          </a:solidFill>
          <a:ln/>
        </p:spPr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15CEE578-B696-13DF-8156-7ECAD9E5A9C7}"/>
              </a:ext>
            </a:extLst>
          </p:cNvPr>
          <p:cNvSpPr/>
          <p:nvPr/>
        </p:nvSpPr>
        <p:spPr>
          <a:xfrm>
            <a:off x="640080" y="6858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2ED9A0"/>
          </a:solidFill>
          <a:ln/>
        </p:spPr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1AC94D8E-716A-9E5F-FFBE-69B7477A3B22}"/>
              </a:ext>
            </a:extLst>
          </p:cNvPr>
          <p:cNvSpPr/>
          <p:nvPr/>
        </p:nvSpPr>
        <p:spPr>
          <a:xfrm>
            <a:off x="64008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220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F26B13A4-E91F-4B32-CFD5-25CF6E5783F0}"/>
              </a:ext>
            </a:extLst>
          </p:cNvPr>
          <p:cNvSpPr/>
          <p:nvPr/>
        </p:nvSpPr>
        <p:spPr>
          <a:xfrm>
            <a:off x="1371600" y="7132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VisionInspect AI</a:t>
            </a:r>
            <a:endParaRPr lang="en-US" sz="16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C902789E-8FA7-67FE-4813-2DF8174B3400}"/>
              </a:ext>
            </a:extLst>
          </p:cNvPr>
          <p:cNvSpPr/>
          <p:nvPr/>
        </p:nvSpPr>
        <p:spPr>
          <a:xfrm>
            <a:off x="1371600" y="10424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INSPECTION SYSTEM</a:t>
            </a:r>
            <a:endParaRPr lang="en-US" sz="10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4FC521CE-B207-7BDB-AA77-DB4F9D6A006B}"/>
              </a:ext>
            </a:extLst>
          </p:cNvPr>
          <p:cNvSpPr/>
          <p:nvPr/>
        </p:nvSpPr>
        <p:spPr>
          <a:xfrm>
            <a:off x="640080" y="1810512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ED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 2</a:t>
            </a:r>
            <a:endParaRPr lang="en-US" sz="16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52826419-AEE1-54D1-C394-E2089D8144C3}"/>
              </a:ext>
            </a:extLst>
          </p:cNvPr>
          <p:cNvSpPr/>
          <p:nvPr/>
        </p:nvSpPr>
        <p:spPr>
          <a:xfrm>
            <a:off x="640080" y="1581912"/>
            <a:ext cx="1051560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AF0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Industrial Defect Detection</a:t>
            </a:r>
            <a:endParaRPr lang="en-US" sz="4400" dirty="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6F57260F-1659-BACF-D9D3-B68EB44B146A}"/>
              </a:ext>
            </a:extLst>
          </p:cNvPr>
          <p:cNvSpPr/>
          <p:nvPr/>
        </p:nvSpPr>
        <p:spPr>
          <a:xfrm>
            <a:off x="640080" y="2898648"/>
            <a:ext cx="841248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YOLO11n object detection trained on MVTec AD, served through a FastAPI backend, and surfaced in a full inspection dashboard with automated PDF reporting.</a:t>
            </a:r>
            <a:endParaRPr lang="en-US" sz="1400" dirty="0"/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1FF9878A-D9F4-7989-5F38-52C6940B9C18}"/>
              </a:ext>
            </a:extLst>
          </p:cNvPr>
          <p:cNvSpPr/>
          <p:nvPr/>
        </p:nvSpPr>
        <p:spPr>
          <a:xfrm>
            <a:off x="640080" y="5806440"/>
            <a:ext cx="1616659" cy="384048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1CA97C"/>
            </a:solidFill>
            <a:prstDash val="solid"/>
          </a:ln>
        </p:spPr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F55E957A-735B-7850-B728-AC884A9B770F}"/>
              </a:ext>
            </a:extLst>
          </p:cNvPr>
          <p:cNvSpPr/>
          <p:nvPr/>
        </p:nvSpPr>
        <p:spPr>
          <a:xfrm>
            <a:off x="640080" y="5806440"/>
            <a:ext cx="16166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D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MVTec AD Dataset</a:t>
            </a:r>
            <a:endParaRPr lang="en-US" sz="1050" dirty="0"/>
          </a:p>
        </p:txBody>
      </p:sp>
      <p:sp>
        <p:nvSpPr>
          <p:cNvPr id="34" name="Shape 12">
            <a:extLst>
              <a:ext uri="{FF2B5EF4-FFF2-40B4-BE49-F238E27FC236}">
                <a16:creationId xmlns:a16="http://schemas.microsoft.com/office/drawing/2014/main" id="{A645067C-D93D-2EF5-962F-456F5ECE8B9C}"/>
              </a:ext>
            </a:extLst>
          </p:cNvPr>
          <p:cNvSpPr/>
          <p:nvPr/>
        </p:nvSpPr>
        <p:spPr>
          <a:xfrm>
            <a:off x="2439619" y="5806440"/>
            <a:ext cx="1446581" cy="384048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1CA97C"/>
            </a:solidFill>
            <a:prstDash val="solid"/>
          </a:ln>
        </p:spPr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0C01AD04-9A3E-14F4-908A-BED37A980E62}"/>
              </a:ext>
            </a:extLst>
          </p:cNvPr>
          <p:cNvSpPr/>
          <p:nvPr/>
        </p:nvSpPr>
        <p:spPr>
          <a:xfrm>
            <a:off x="2439619" y="5806440"/>
            <a:ext cx="14465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D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YOLO11n</a:t>
            </a:r>
            <a:endParaRPr lang="en-US" sz="1050" dirty="0"/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494500A8-D18F-4548-4812-683124B78BCA}"/>
              </a:ext>
            </a:extLst>
          </p:cNvPr>
          <p:cNvSpPr/>
          <p:nvPr/>
        </p:nvSpPr>
        <p:spPr>
          <a:xfrm>
            <a:off x="4069080" y="5806440"/>
            <a:ext cx="1531620" cy="384048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1CA97C"/>
            </a:solidFill>
            <a:prstDash val="solid"/>
          </a:ln>
        </p:spPr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65236AB6-B454-C60A-B6C2-C5FAD7E50430}"/>
              </a:ext>
            </a:extLst>
          </p:cNvPr>
          <p:cNvSpPr/>
          <p:nvPr/>
        </p:nvSpPr>
        <p:spPr>
          <a:xfrm>
            <a:off x="4069080" y="5806440"/>
            <a:ext cx="15316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D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 Backend</a:t>
            </a:r>
            <a:endParaRPr lang="en-US" sz="1050" dirty="0"/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FF0790F0-6BB5-AAEC-5D44-AD23E6DD8C68}"/>
              </a:ext>
            </a:extLst>
          </p:cNvPr>
          <p:cNvSpPr/>
          <p:nvPr/>
        </p:nvSpPr>
        <p:spPr>
          <a:xfrm>
            <a:off x="5783580" y="5806440"/>
            <a:ext cx="1446581" cy="384048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1CA97C"/>
            </a:solidFill>
            <a:prstDash val="solid"/>
          </a:ln>
        </p:spPr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4409F8AD-D4F1-5E2E-40E0-64F26B80DADC}"/>
              </a:ext>
            </a:extLst>
          </p:cNvPr>
          <p:cNvSpPr/>
          <p:nvPr/>
        </p:nvSpPr>
        <p:spPr>
          <a:xfrm>
            <a:off x="5783580" y="5806440"/>
            <a:ext cx="14465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D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Dashboard</a:t>
            </a:r>
            <a:endParaRPr lang="en-US" sz="1050" dirty="0"/>
          </a:p>
        </p:txBody>
      </p:sp>
      <p:sp>
        <p:nvSpPr>
          <p:cNvPr id="46" name="Shape 18">
            <a:extLst>
              <a:ext uri="{FF2B5EF4-FFF2-40B4-BE49-F238E27FC236}">
                <a16:creationId xmlns:a16="http://schemas.microsoft.com/office/drawing/2014/main" id="{C15C4A65-9A63-01FB-598B-50F91F02EE76}"/>
              </a:ext>
            </a:extLst>
          </p:cNvPr>
          <p:cNvSpPr/>
          <p:nvPr/>
        </p:nvSpPr>
        <p:spPr>
          <a:xfrm>
            <a:off x="7413041" y="5806440"/>
            <a:ext cx="1191463" cy="384048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1CA97C"/>
            </a:solidFill>
            <a:prstDash val="solid"/>
          </a:ln>
        </p:spPr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168D6D80-20CD-3251-CE09-8FCABF4E91A9}"/>
              </a:ext>
            </a:extLst>
          </p:cNvPr>
          <p:cNvSpPr/>
          <p:nvPr/>
        </p:nvSpPr>
        <p:spPr>
          <a:xfrm>
            <a:off x="7413041" y="5806440"/>
            <a:ext cx="11914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D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 Reports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· DATA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Acquisition &amp; Preparation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MVTec Anomaly Detection (MVTec AD) dataset was downloaded and restructured into YOLO-compatible format, covering 15 industrial product categories used for defect classification.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943600" cy="3246120"/>
          </a:xfrm>
          <a:prstGeom prst="roundRect">
            <a:avLst>
              <a:gd name="adj" fmla="val 2254"/>
            </a:avLst>
          </a:prstGeom>
          <a:solidFill>
            <a:srgbClr val="121B2E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97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Defect Categories (MVTec AD)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3264408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3154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3264408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2807208" y="3154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3264408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4590288" y="3154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Capsule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721608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36118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Carpet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06040" y="3721608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2807208" y="36118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3721608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4590288" y="36118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Hazelnut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178808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0" name="Text 18"/>
          <p:cNvSpPr/>
          <p:nvPr/>
        </p:nvSpPr>
        <p:spPr>
          <a:xfrm>
            <a:off x="1024128" y="40690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Leather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06040" y="4178808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2" name="Text 20"/>
          <p:cNvSpPr/>
          <p:nvPr/>
        </p:nvSpPr>
        <p:spPr>
          <a:xfrm>
            <a:off x="2807208" y="40690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Nut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89120" y="4178808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4" name="Text 22"/>
          <p:cNvSpPr/>
          <p:nvPr/>
        </p:nvSpPr>
        <p:spPr>
          <a:xfrm>
            <a:off x="4590288" y="40690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4636008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6" name="Text 24"/>
          <p:cNvSpPr/>
          <p:nvPr/>
        </p:nvSpPr>
        <p:spPr>
          <a:xfrm>
            <a:off x="1024128" y="4526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Screw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06040" y="4636008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8" name="Text 26"/>
          <p:cNvSpPr/>
          <p:nvPr/>
        </p:nvSpPr>
        <p:spPr>
          <a:xfrm>
            <a:off x="2807208" y="4526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89120" y="4636008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0" name="Text 28"/>
          <p:cNvSpPr/>
          <p:nvPr/>
        </p:nvSpPr>
        <p:spPr>
          <a:xfrm>
            <a:off x="4590288" y="4526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Toothbrush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2960" y="5093208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2" name="Text 30"/>
          <p:cNvSpPr/>
          <p:nvPr/>
        </p:nvSpPr>
        <p:spPr>
          <a:xfrm>
            <a:off x="1024128" y="49834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Transistor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606040" y="5093208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4" name="Text 32"/>
          <p:cNvSpPr/>
          <p:nvPr/>
        </p:nvSpPr>
        <p:spPr>
          <a:xfrm>
            <a:off x="2807208" y="49834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89120" y="5093208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6" name="Text 34"/>
          <p:cNvSpPr/>
          <p:nvPr/>
        </p:nvSpPr>
        <p:spPr>
          <a:xfrm>
            <a:off x="4590288" y="49834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Zipper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766560" y="2514600"/>
            <a:ext cx="4846320" cy="3246120"/>
          </a:xfrm>
          <a:prstGeom prst="roundRect">
            <a:avLst>
              <a:gd name="adj" fmla="val 2254"/>
            </a:avLst>
          </a:prstGeom>
          <a:solidFill>
            <a:srgbClr val="121B2E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40880" y="26974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Scripts Used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040880" y="315468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prepare_mvtec_yolo.py
</a:t>
            </a:r>
            <a:r>
              <a:rPr lang="en-US" sz="10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raw MVTec images/masks into YOLO label format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040880" y="386791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prepare_metal_nut_yolo.py
</a:t>
            </a:r>
            <a:r>
              <a:rPr lang="en-US" sz="10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Category-specific annotation preprocessing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040880" y="4581144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reduce_mvtec.py
</a:t>
            </a:r>
            <a:r>
              <a:rPr lang="en-US" sz="10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subsampling for balanced class distribution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040880" y="5294376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data.yaml
</a:t>
            </a:r>
            <a:r>
              <a:rPr lang="en-US" sz="10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dataset config — class names &amp; train/val paths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· MODEL 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Training &amp; Evaluation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YOLO was trained </a:t>
            </a:r>
            <a:r>
              <a:rPr lang="en-IN" sz="1400" b="1" dirty="0">
                <a:solidFill>
                  <a:schemeClr val="bg1"/>
                </a:solidFill>
              </a:rPr>
              <a:t>from scratch (no pretrained COCO weights)</a:t>
            </a:r>
            <a:r>
              <a:rPr lang="en-IN" sz="1400" dirty="0">
                <a:solidFill>
                  <a:schemeClr val="bg1"/>
                </a:solidFill>
              </a:rPr>
              <a:t> for a full 200 epochs on the prepared </a:t>
            </a:r>
            <a:r>
              <a:rPr lang="en-IN" sz="1400" dirty="0" err="1">
                <a:solidFill>
                  <a:schemeClr val="bg1"/>
                </a:solidFill>
              </a:rPr>
              <a:t>MVTec</a:t>
            </a:r>
            <a:r>
              <a:rPr lang="en-IN" sz="1400" dirty="0">
                <a:solidFill>
                  <a:schemeClr val="bg1"/>
                </a:solidFill>
              </a:rPr>
              <a:t> dataset, then evaluated class-by-class to confirm real, working defect detection across all 15 categories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5" name="Image 0" descr="/mnt/user-data/uploads/1786707511331_Screenshot_2026-08-14_1449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965960"/>
            <a:ext cx="6583680" cy="3483864"/>
          </a:xfrm>
          <a:prstGeom prst="rect">
            <a:avLst/>
          </a:prstGeom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074920" y="1965960"/>
            <a:ext cx="6583680" cy="3483864"/>
          </a:xfrm>
          <a:prstGeom prst="rect">
            <a:avLst/>
          </a:prstGeom>
          <a:ln w="12700">
            <a:solidFill>
              <a:srgbClr val="2430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965960"/>
            <a:ext cx="4297680" cy="1691640"/>
          </a:xfrm>
          <a:prstGeom prst="roundRect">
            <a:avLst>
              <a:gd name="adj" fmla="val 4324"/>
            </a:avLst>
          </a:prstGeom>
          <a:solidFill>
            <a:srgbClr val="121B2E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1214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" y="2487168"/>
            <a:ext cx="1929384" cy="329184"/>
          </a:xfrm>
          <a:prstGeom prst="roundRect">
            <a:avLst>
              <a:gd name="adj" fmla="val 22222"/>
            </a:avLst>
          </a:prstGeom>
          <a:solidFill>
            <a:srgbClr val="16233B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487168"/>
            <a:ext cx="192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Ultralytics YOLO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834640" y="2487168"/>
            <a:ext cx="1024128" cy="329184"/>
          </a:xfrm>
          <a:prstGeom prst="roundRect">
            <a:avLst>
              <a:gd name="adj" fmla="val 22222"/>
            </a:avLst>
          </a:prstGeom>
          <a:solidFill>
            <a:srgbClr val="16233B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34640" y="24871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77240" y="2944368"/>
            <a:ext cx="1024128" cy="329184"/>
          </a:xfrm>
          <a:prstGeom prst="roundRect">
            <a:avLst>
              <a:gd name="adj" fmla="val 22222"/>
            </a:avLst>
          </a:prstGeom>
          <a:solidFill>
            <a:srgbClr val="16233B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929384" y="2944368"/>
            <a:ext cx="923544" cy="329184"/>
          </a:xfrm>
          <a:prstGeom prst="roundRect">
            <a:avLst>
              <a:gd name="adj" fmla="val 22222"/>
            </a:avLst>
          </a:prstGeom>
          <a:solidFill>
            <a:srgbClr val="16233B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929384" y="2944368"/>
            <a:ext cx="92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980944" y="2944368"/>
            <a:ext cx="1024128" cy="329184"/>
          </a:xfrm>
          <a:prstGeom prst="roundRect">
            <a:avLst>
              <a:gd name="adj" fmla="val 22222"/>
            </a:avLst>
          </a:prstGeom>
          <a:solidFill>
            <a:srgbClr val="16233B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80944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3794760"/>
            <a:ext cx="4297680" cy="1691640"/>
          </a:xfrm>
          <a:prstGeom prst="roundRect">
            <a:avLst>
              <a:gd name="adj" fmla="val 4324"/>
            </a:avLst>
          </a:prstGeom>
          <a:solidFill>
            <a:srgbClr val="121B2E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39502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Evaluation Score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77240" y="434340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66.13%
</a:t>
            </a:r>
            <a:r>
              <a:rPr lang="en-US" sz="10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2148840" y="434340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36.84%
</a:t>
            </a:r>
            <a:r>
              <a:rPr lang="en-US" sz="10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3520440" y="434340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38.82%
</a:t>
            </a:r>
            <a:r>
              <a:rPr lang="en-US" sz="10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mAP50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· DATA LAYER &amp;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Design &amp; Backend Integration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YOLO11n was trained </a:t>
            </a:r>
            <a:r>
              <a:rPr lang="en-IN" sz="1400" b="1" dirty="0">
                <a:solidFill>
                  <a:schemeClr val="bg1"/>
                </a:solidFill>
              </a:rPr>
              <a:t>from scratch (no pretrained COCO weights)</a:t>
            </a:r>
            <a:r>
              <a:rPr lang="en-IN" sz="1400" dirty="0">
                <a:solidFill>
                  <a:schemeClr val="bg1"/>
                </a:solidFill>
              </a:rPr>
              <a:t> for a full 200 epochs on the prepared </a:t>
            </a:r>
            <a:r>
              <a:rPr lang="en-IN" sz="1400" dirty="0" err="1">
                <a:solidFill>
                  <a:schemeClr val="bg1"/>
                </a:solidFill>
              </a:rPr>
              <a:t>MVTec</a:t>
            </a:r>
            <a:r>
              <a:rPr lang="en-IN" sz="1400" dirty="0">
                <a:solidFill>
                  <a:schemeClr val="bg1"/>
                </a:solidFill>
              </a:rPr>
              <a:t> dataset, then evaluated class-by-class to confirm real, working defect detection across all 15 categories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5" name="Image 0" descr="/mnt/user-data/uploads/1786707619984_Screenshot_2026-08-14_1702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10" y="1901952"/>
            <a:ext cx="6248338" cy="3675888"/>
          </a:xfrm>
          <a:prstGeom prst="rect">
            <a:avLst/>
          </a:prstGeom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48640" y="1874520"/>
            <a:ext cx="5989320" cy="3172968"/>
          </a:xfrm>
          <a:prstGeom prst="rect">
            <a:avLst/>
          </a:prstGeom>
          <a:ln w="12700">
            <a:solidFill>
              <a:srgbClr val="2430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5102352"/>
            <a:ext cx="5989320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inspections table — built and populated via the FastAPI backend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766560" y="1874520"/>
            <a:ext cx="4846320" cy="3794760"/>
          </a:xfrm>
          <a:prstGeom prst="roundRect">
            <a:avLst>
              <a:gd name="adj" fmla="val 1928"/>
            </a:avLst>
          </a:prstGeom>
          <a:solidFill>
            <a:srgbClr val="121B2E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95160" y="202996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Working Flow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995160" y="2450592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95160" y="2450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24928" y="239572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(Vite) Frontend
</a:t>
            </a:r>
            <a:r>
              <a:rPr lang="en-US" sz="10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uploads product image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141464" y="2743200"/>
            <a:ext cx="0" cy="237744"/>
          </a:xfrm>
          <a:prstGeom prst="line">
            <a:avLst/>
          </a:prstGeom>
          <a:noFill/>
          <a:ln w="19050">
            <a:solidFill>
              <a:srgbClr val="24304A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6995160" y="3054096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95160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424928" y="299923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
</a:t>
            </a:r>
            <a:r>
              <a:rPr lang="en-US" sz="10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image via REST endpoint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41464" y="3346704"/>
            <a:ext cx="0" cy="237744"/>
          </a:xfrm>
          <a:prstGeom prst="line">
            <a:avLst/>
          </a:prstGeom>
          <a:noFill/>
          <a:ln w="19050">
            <a:solidFill>
              <a:srgbClr val="24304A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6995160" y="3657600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9516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424928" y="3602736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YOLO11n Model
</a:t>
            </a:r>
            <a:r>
              <a:rPr lang="en-US" sz="10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inference on the trained checkpoint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141464" y="3950208"/>
            <a:ext cx="0" cy="237744"/>
          </a:xfrm>
          <a:prstGeom prst="line">
            <a:avLst/>
          </a:prstGeom>
          <a:noFill/>
          <a:ln w="19050">
            <a:solidFill>
              <a:srgbClr val="24304A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6995160" y="4261104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95160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424928" y="420624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Database
</a:t>
            </a:r>
            <a:r>
              <a:rPr lang="en-US" sz="10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defect type, severity &amp; scores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141464" y="4553712"/>
            <a:ext cx="0" cy="237744"/>
          </a:xfrm>
          <a:prstGeom prst="line">
            <a:avLst/>
          </a:prstGeom>
          <a:noFill/>
          <a:ln w="19050">
            <a:solidFill>
              <a:srgbClr val="24304A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6995160" y="4864608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95160" y="4864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424928" y="4809744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Dashboard
</a:t>
            </a:r>
            <a:r>
              <a:rPr lang="en-US" sz="10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Displays result + generates PDF report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· FRONTEND 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Upload &amp; Live AI Inspection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Vite/React frontend lets a quality engineer upload a product image and trigger the AI pipeline directly — returning defect type, severity, and recommendation in real time.</a:t>
            </a:r>
            <a:endParaRPr lang="en-US" sz="1300" dirty="0"/>
          </a:p>
        </p:txBody>
      </p:sp>
      <p:pic>
        <p:nvPicPr>
          <p:cNvPr id="5" name="Image 0" descr="/mnt/user-data/uploads/1786707659039_Screenshot_2026-08-14_1659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1920239"/>
            <a:ext cx="8854440" cy="4218158"/>
          </a:xfrm>
          <a:prstGeom prst="rect">
            <a:avLst/>
          </a:prstGeom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788920" y="1920240"/>
            <a:ext cx="6583680" cy="3136392"/>
          </a:xfrm>
          <a:prstGeom prst="rect">
            <a:avLst/>
          </a:prstGeom>
          <a:ln w="12700">
            <a:solidFill>
              <a:srgbClr val="2430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920240"/>
            <a:ext cx="2103120" cy="3136392"/>
          </a:xfrm>
          <a:prstGeom prst="roundRect">
            <a:avLst>
              <a:gd name="adj" fmla="val 3478"/>
            </a:avLst>
          </a:prstGeom>
          <a:solidFill>
            <a:srgbClr val="121B2E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0848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Used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1520" y="2450592"/>
            <a:ext cx="1737360" cy="365760"/>
          </a:xfrm>
          <a:prstGeom prst="roundRect">
            <a:avLst>
              <a:gd name="adj" fmla="val 17500"/>
            </a:avLst>
          </a:prstGeom>
          <a:solidFill>
            <a:srgbClr val="16233B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4505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1520" y="2889504"/>
            <a:ext cx="1737360" cy="365760"/>
          </a:xfrm>
          <a:prstGeom prst="roundRect">
            <a:avLst>
              <a:gd name="adj" fmla="val 17500"/>
            </a:avLst>
          </a:prstGeom>
          <a:solidFill>
            <a:srgbClr val="16233B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889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1520" y="3328416"/>
            <a:ext cx="1737360" cy="365760"/>
          </a:xfrm>
          <a:prstGeom prst="roundRect">
            <a:avLst>
              <a:gd name="adj" fmla="val 17500"/>
            </a:avLst>
          </a:prstGeom>
          <a:solidFill>
            <a:srgbClr val="16233B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33284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31520" y="3767328"/>
            <a:ext cx="1737360" cy="365760"/>
          </a:xfrm>
          <a:prstGeom prst="roundRect">
            <a:avLst>
              <a:gd name="adj" fmla="val 17500"/>
            </a:avLst>
          </a:prstGeom>
          <a:solidFill>
            <a:srgbClr val="16233B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37673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31520" y="4206240"/>
            <a:ext cx="1737360" cy="365760"/>
          </a:xfrm>
          <a:prstGeom prst="roundRect">
            <a:avLst>
              <a:gd name="adj" fmla="val 17500"/>
            </a:avLst>
          </a:prstGeom>
          <a:solidFill>
            <a:srgbClr val="16233B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4206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API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· REPORTING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Inspection Report (PDF)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completed inspection can be exported as a downloadable PDF report — capturing product details, the inspected image, defect classification and severity scoring.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6035040" cy="3429000"/>
          </a:xfrm>
          <a:prstGeom prst="roundRect">
            <a:avLst>
              <a:gd name="adj" fmla="val 2133"/>
            </a:avLst>
          </a:prstGeom>
          <a:solidFill>
            <a:srgbClr val="121B2E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51460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2880360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16233B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8803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jsPDF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728216" y="2880360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16233B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28216" y="28803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79192" y="2880360"/>
            <a:ext cx="1024128" cy="329184"/>
          </a:xfrm>
          <a:prstGeom prst="roundRect">
            <a:avLst>
              <a:gd name="adj" fmla="val 22222"/>
            </a:avLst>
          </a:prstGeom>
          <a:solidFill>
            <a:srgbClr val="16233B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9192" y="28803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31336" y="2880360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16233B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31336" y="28803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342900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Contents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3877056"/>
            <a:ext cx="64008" cy="6400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7947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details (name, code, batch, line)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4242816"/>
            <a:ext cx="64008" cy="6400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1605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Inspected product image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4608576"/>
            <a:ext cx="64008" cy="6400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5262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type &amp; severity level (Low → Critical)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4974336"/>
            <a:ext cx="64008" cy="6400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8920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Size, location, type &amp; confidence scores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" y="5340096"/>
            <a:ext cx="64008" cy="6400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52578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recommendation for the line</a:t>
            </a:r>
            <a:endParaRPr lang="en-US" sz="1150" dirty="0"/>
          </a:p>
        </p:txBody>
      </p:sp>
      <p:pic>
        <p:nvPicPr>
          <p:cNvPr id="26" name="Image 0" descr="/mnt/user-data/uploads/1786707722746_Screenshot_2026-08-14_1659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965960"/>
            <a:ext cx="4251960" cy="4565050"/>
          </a:xfrm>
          <a:prstGeom prst="rect">
            <a:avLst/>
          </a:prstGeom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pic>
      <p:sp>
        <p:nvSpPr>
          <p:cNvPr id="27" name="Shape 24"/>
          <p:cNvSpPr/>
          <p:nvPr/>
        </p:nvSpPr>
        <p:spPr>
          <a:xfrm>
            <a:off x="7360920" y="1965960"/>
            <a:ext cx="4251960" cy="4565050"/>
          </a:xfrm>
          <a:prstGeom prst="rect">
            <a:avLst/>
          </a:prstGeom>
          <a:ln w="12700">
            <a:solidFill>
              <a:srgbClr val="2430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928FBC-97F5-454A-8C3D-8CD9D3092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>
            <a:extLst>
              <a:ext uri="{FF2B5EF4-FFF2-40B4-BE49-F238E27FC236}">
                <a16:creationId xmlns:a16="http://schemas.microsoft.com/office/drawing/2014/main" id="{B97DCFF8-316D-E325-2754-23A9420A15FE}"/>
              </a:ext>
            </a:extLst>
          </p:cNvPr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D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 2 SUMMARY</a:t>
            </a:r>
            <a:endParaRPr lang="en-US" sz="1200" dirty="0"/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04193F6B-B59F-DC61-1415-7CC4825785AA}"/>
              </a:ext>
            </a:extLst>
          </p:cNvPr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0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VisionInspect AI Workflow</a:t>
            </a:r>
            <a:endParaRPr lang="en-US" sz="3000" dirty="0"/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951E4028-8D0F-90B4-1F30-6EF5F273E1E5}"/>
              </a:ext>
            </a:extLst>
          </p:cNvPr>
          <p:cNvSpPr/>
          <p:nvPr/>
        </p:nvSpPr>
        <p:spPr>
          <a:xfrm>
            <a:off x="548640" y="1874520"/>
            <a:ext cx="1676400" cy="960120"/>
          </a:xfrm>
          <a:prstGeom prst="roundRect">
            <a:avLst>
              <a:gd name="adj" fmla="val 9524"/>
            </a:avLst>
          </a:prstGeom>
          <a:solidFill>
            <a:srgbClr val="121B2E"/>
          </a:solidFill>
          <a:ln w="12700">
            <a:solidFill>
              <a:srgbClr val="1CA97C"/>
            </a:solidFill>
            <a:prstDash val="solid"/>
          </a:ln>
        </p:spPr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0E7A1FDD-932A-B294-B8E3-8E716DA30A0A}"/>
              </a:ext>
            </a:extLst>
          </p:cNvPr>
          <p:cNvSpPr/>
          <p:nvPr/>
        </p:nvSpPr>
        <p:spPr>
          <a:xfrm>
            <a:off x="603504" y="1874520"/>
            <a:ext cx="1566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0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Image</a:t>
            </a:r>
            <a:endParaRPr lang="en-US" sz="1150" dirty="0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87551C24-F5DE-0199-D9D2-0534A54C6E71}"/>
              </a:ext>
            </a:extLst>
          </p:cNvPr>
          <p:cNvSpPr/>
          <p:nvPr/>
        </p:nvSpPr>
        <p:spPr>
          <a:xfrm>
            <a:off x="2225040" y="1874520"/>
            <a:ext cx="201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D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CBF643F1-E217-B8D1-B418-CD2BD1F85F47}"/>
              </a:ext>
            </a:extLst>
          </p:cNvPr>
          <p:cNvSpPr/>
          <p:nvPr/>
        </p:nvSpPr>
        <p:spPr>
          <a:xfrm>
            <a:off x="2426208" y="1874520"/>
            <a:ext cx="1676400" cy="960120"/>
          </a:xfrm>
          <a:prstGeom prst="roundRect">
            <a:avLst>
              <a:gd name="adj" fmla="val 9524"/>
            </a:avLst>
          </a:prstGeom>
          <a:solidFill>
            <a:srgbClr val="121B2E"/>
          </a:solidFill>
          <a:ln w="12700">
            <a:solidFill>
              <a:srgbClr val="1CA97C"/>
            </a:solidFill>
            <a:prstDash val="solid"/>
          </a:ln>
        </p:spPr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770EFAF7-78F4-2978-96B9-916403582424}"/>
              </a:ext>
            </a:extLst>
          </p:cNvPr>
          <p:cNvSpPr/>
          <p:nvPr/>
        </p:nvSpPr>
        <p:spPr>
          <a:xfrm>
            <a:off x="2481072" y="1874520"/>
            <a:ext cx="1566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0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API</a:t>
            </a:r>
            <a:endParaRPr lang="en-US" sz="1150" dirty="0"/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890592C0-B096-CA83-0E4E-C5CD035D338E}"/>
              </a:ext>
            </a:extLst>
          </p:cNvPr>
          <p:cNvSpPr/>
          <p:nvPr/>
        </p:nvSpPr>
        <p:spPr>
          <a:xfrm>
            <a:off x="4102608" y="1874520"/>
            <a:ext cx="201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D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Shape 8">
            <a:extLst>
              <a:ext uri="{FF2B5EF4-FFF2-40B4-BE49-F238E27FC236}">
                <a16:creationId xmlns:a16="http://schemas.microsoft.com/office/drawing/2014/main" id="{B6F25D1D-2DFC-52CA-FE4E-83CF278DC70A}"/>
              </a:ext>
            </a:extLst>
          </p:cNvPr>
          <p:cNvSpPr/>
          <p:nvPr/>
        </p:nvSpPr>
        <p:spPr>
          <a:xfrm>
            <a:off x="4303776" y="1874520"/>
            <a:ext cx="1676400" cy="960120"/>
          </a:xfrm>
          <a:prstGeom prst="roundRect">
            <a:avLst>
              <a:gd name="adj" fmla="val 9524"/>
            </a:avLst>
          </a:prstGeom>
          <a:solidFill>
            <a:srgbClr val="121B2E"/>
          </a:solidFill>
          <a:ln w="12700">
            <a:solidFill>
              <a:srgbClr val="1CA97C"/>
            </a:solidFill>
            <a:prstDash val="solid"/>
          </a:ln>
        </p:spPr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23DD54FB-6F32-02EC-9F5C-266D1D879638}"/>
              </a:ext>
            </a:extLst>
          </p:cNvPr>
          <p:cNvSpPr/>
          <p:nvPr/>
        </p:nvSpPr>
        <p:spPr>
          <a:xfrm>
            <a:off x="4358640" y="1874520"/>
            <a:ext cx="1566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0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 Model</a:t>
            </a:r>
            <a:endParaRPr lang="en-US" sz="1150" dirty="0"/>
          </a:p>
        </p:txBody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DCC0ABA0-F840-6B50-D8C0-1A05917D666A}"/>
              </a:ext>
            </a:extLst>
          </p:cNvPr>
          <p:cNvSpPr/>
          <p:nvPr/>
        </p:nvSpPr>
        <p:spPr>
          <a:xfrm>
            <a:off x="5980176" y="1874520"/>
            <a:ext cx="201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D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52" name="Shape 11">
            <a:extLst>
              <a:ext uri="{FF2B5EF4-FFF2-40B4-BE49-F238E27FC236}">
                <a16:creationId xmlns:a16="http://schemas.microsoft.com/office/drawing/2014/main" id="{85F9CCAB-3F49-9CDF-CAEF-D812FA541B87}"/>
              </a:ext>
            </a:extLst>
          </p:cNvPr>
          <p:cNvSpPr/>
          <p:nvPr/>
        </p:nvSpPr>
        <p:spPr>
          <a:xfrm>
            <a:off x="6181344" y="1874520"/>
            <a:ext cx="1676400" cy="960120"/>
          </a:xfrm>
          <a:prstGeom prst="roundRect">
            <a:avLst>
              <a:gd name="adj" fmla="val 9524"/>
            </a:avLst>
          </a:prstGeom>
          <a:solidFill>
            <a:srgbClr val="121B2E"/>
          </a:solidFill>
          <a:ln w="12700">
            <a:solidFill>
              <a:srgbClr val="1CA97C"/>
            </a:solidFill>
            <a:prstDash val="solid"/>
          </a:ln>
        </p:spPr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64380D72-99DE-44E2-BD50-40A15EF5A6F7}"/>
              </a:ext>
            </a:extLst>
          </p:cNvPr>
          <p:cNvSpPr/>
          <p:nvPr/>
        </p:nvSpPr>
        <p:spPr>
          <a:xfrm>
            <a:off x="6236208" y="1874520"/>
            <a:ext cx="1566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0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Defect Detection</a:t>
            </a:r>
            <a:endParaRPr lang="en-US" sz="1150" dirty="0"/>
          </a:p>
        </p:txBody>
      </p:sp>
      <p:sp>
        <p:nvSpPr>
          <p:cNvPr id="56" name="Text 13">
            <a:extLst>
              <a:ext uri="{FF2B5EF4-FFF2-40B4-BE49-F238E27FC236}">
                <a16:creationId xmlns:a16="http://schemas.microsoft.com/office/drawing/2014/main" id="{85ECBCAC-4110-4FDD-AD7B-9E0C0A1C3694}"/>
              </a:ext>
            </a:extLst>
          </p:cNvPr>
          <p:cNvSpPr/>
          <p:nvPr/>
        </p:nvSpPr>
        <p:spPr>
          <a:xfrm>
            <a:off x="7857744" y="1874520"/>
            <a:ext cx="201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D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58" name="Shape 14">
            <a:extLst>
              <a:ext uri="{FF2B5EF4-FFF2-40B4-BE49-F238E27FC236}">
                <a16:creationId xmlns:a16="http://schemas.microsoft.com/office/drawing/2014/main" id="{8E01ABF2-3EEC-946F-7B18-FD6FF62D85D3}"/>
              </a:ext>
            </a:extLst>
          </p:cNvPr>
          <p:cNvSpPr/>
          <p:nvPr/>
        </p:nvSpPr>
        <p:spPr>
          <a:xfrm>
            <a:off x="8058912" y="1874520"/>
            <a:ext cx="1676400" cy="960120"/>
          </a:xfrm>
          <a:prstGeom prst="roundRect">
            <a:avLst>
              <a:gd name="adj" fmla="val 9524"/>
            </a:avLst>
          </a:prstGeom>
          <a:solidFill>
            <a:srgbClr val="121B2E"/>
          </a:solidFill>
          <a:ln w="12700">
            <a:solidFill>
              <a:srgbClr val="1CA97C"/>
            </a:solidFill>
            <a:prstDash val="solid"/>
          </a:ln>
        </p:spPr>
      </p:sp>
      <p:sp>
        <p:nvSpPr>
          <p:cNvPr id="60" name="Text 15">
            <a:extLst>
              <a:ext uri="{FF2B5EF4-FFF2-40B4-BE49-F238E27FC236}">
                <a16:creationId xmlns:a16="http://schemas.microsoft.com/office/drawing/2014/main" id="{D878E189-4105-AA2E-2B63-7519891BD6D9}"/>
              </a:ext>
            </a:extLst>
          </p:cNvPr>
          <p:cNvSpPr/>
          <p:nvPr/>
        </p:nvSpPr>
        <p:spPr>
          <a:xfrm>
            <a:off x="8113776" y="1874520"/>
            <a:ext cx="1566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0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1150" dirty="0"/>
          </a:p>
        </p:txBody>
      </p:sp>
      <p:sp>
        <p:nvSpPr>
          <p:cNvPr id="62" name="Text 16">
            <a:extLst>
              <a:ext uri="{FF2B5EF4-FFF2-40B4-BE49-F238E27FC236}">
                <a16:creationId xmlns:a16="http://schemas.microsoft.com/office/drawing/2014/main" id="{DBB6EC37-2504-3F85-C840-A82AF54BDE35}"/>
              </a:ext>
            </a:extLst>
          </p:cNvPr>
          <p:cNvSpPr/>
          <p:nvPr/>
        </p:nvSpPr>
        <p:spPr>
          <a:xfrm>
            <a:off x="9735312" y="1874520"/>
            <a:ext cx="201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D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E7A3BEA7-915D-D063-19D1-BE7548E4A095}"/>
              </a:ext>
            </a:extLst>
          </p:cNvPr>
          <p:cNvSpPr/>
          <p:nvPr/>
        </p:nvSpPr>
        <p:spPr>
          <a:xfrm>
            <a:off x="9936480" y="1874520"/>
            <a:ext cx="1676400" cy="960120"/>
          </a:xfrm>
          <a:prstGeom prst="roundRect">
            <a:avLst>
              <a:gd name="adj" fmla="val 9524"/>
            </a:avLst>
          </a:prstGeom>
          <a:solidFill>
            <a:srgbClr val="121B2E"/>
          </a:solidFill>
          <a:ln w="12700">
            <a:solidFill>
              <a:srgbClr val="1CA97C"/>
            </a:solidFill>
            <a:prstDash val="solid"/>
          </a:ln>
        </p:spPr>
      </p:sp>
      <p:sp>
        <p:nvSpPr>
          <p:cNvPr id="66" name="Text 18">
            <a:extLst>
              <a:ext uri="{FF2B5EF4-FFF2-40B4-BE49-F238E27FC236}">
                <a16:creationId xmlns:a16="http://schemas.microsoft.com/office/drawing/2014/main" id="{3C3ADA9B-E9B7-A9EB-4D6D-D1DDADDDD3E6}"/>
              </a:ext>
            </a:extLst>
          </p:cNvPr>
          <p:cNvSpPr/>
          <p:nvPr/>
        </p:nvSpPr>
        <p:spPr>
          <a:xfrm>
            <a:off x="9991344" y="1874520"/>
            <a:ext cx="1566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0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Inspection Report</a:t>
            </a:r>
            <a:endParaRPr lang="en-US" sz="1150" dirty="0"/>
          </a:p>
        </p:txBody>
      </p:sp>
      <p:sp>
        <p:nvSpPr>
          <p:cNvPr id="68" name="Shape 19">
            <a:extLst>
              <a:ext uri="{FF2B5EF4-FFF2-40B4-BE49-F238E27FC236}">
                <a16:creationId xmlns:a16="http://schemas.microsoft.com/office/drawing/2014/main" id="{2D673203-1046-DF29-C325-39A795948456}"/>
              </a:ext>
            </a:extLst>
          </p:cNvPr>
          <p:cNvSpPr/>
          <p:nvPr/>
        </p:nvSpPr>
        <p:spPr>
          <a:xfrm>
            <a:off x="548640" y="3246120"/>
            <a:ext cx="11064240" cy="2926080"/>
          </a:xfrm>
          <a:prstGeom prst="roundRect">
            <a:avLst>
              <a:gd name="adj" fmla="val 3750"/>
            </a:avLst>
          </a:prstGeom>
          <a:solidFill>
            <a:srgbClr val="121B2E"/>
          </a:solidFill>
          <a:ln w="12700">
            <a:solidFill>
              <a:srgbClr val="1C274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0" name="Text 20">
            <a:extLst>
              <a:ext uri="{FF2B5EF4-FFF2-40B4-BE49-F238E27FC236}">
                <a16:creationId xmlns:a16="http://schemas.microsoft.com/office/drawing/2014/main" id="{730F7B87-5F55-81CA-5F3B-DA0C3BD56880}"/>
              </a:ext>
            </a:extLst>
          </p:cNvPr>
          <p:cNvSpPr/>
          <p:nvPr/>
        </p:nvSpPr>
        <p:spPr>
          <a:xfrm>
            <a:off x="868680" y="3566160"/>
            <a:ext cx="10424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EAF0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a complete YOLO-based industrial defect detection system on the MVTec AD dataset, from raw data to a working product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EAF0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Trained a custom YOLO11n model from scratch, evaluated with standard object-detection metrics (Precision, Recall, mAP@50, mAP@50-95)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EAF0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Delivered a FastAPI backend with authenticated inspection APIs, verified via Swagger, and fully connected to the frontend dashboard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EAF0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an end-to-end experience: image upload → AI inspection → severity scoring → downloadable PDF report</a:t>
            </a:r>
            <a:endParaRPr lang="en-US" sz="1350" dirty="0"/>
          </a:p>
        </p:txBody>
      </p:sp>
      <p:sp>
        <p:nvSpPr>
          <p:cNvPr id="72" name="Text 21">
            <a:extLst>
              <a:ext uri="{FF2B5EF4-FFF2-40B4-BE49-F238E27FC236}">
                <a16:creationId xmlns:a16="http://schemas.microsoft.com/office/drawing/2014/main" id="{B7429A96-4EAA-2830-27D2-46947FF85864}"/>
              </a:ext>
            </a:extLst>
          </p:cNvPr>
          <p:cNvSpPr/>
          <p:nvPr/>
        </p:nvSpPr>
        <p:spPr>
          <a:xfrm>
            <a:off x="11475720" y="6363478"/>
            <a:ext cx="548640" cy="4488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07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 22">
            <a:extLst>
              <a:ext uri="{FF2B5EF4-FFF2-40B4-BE49-F238E27FC236}">
                <a16:creationId xmlns:a16="http://schemas.microsoft.com/office/drawing/2014/main" id="{331A58DB-9F16-92A2-A19E-E4C9B537FE96}"/>
              </a:ext>
            </a:extLst>
          </p:cNvPr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VisionInspect AI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58145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8D1637-CC44-64EE-852C-EDF80A69F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DF20EA21-B5DB-441A-19E9-592C3DDB3229}"/>
              </a:ext>
            </a:extLst>
          </p:cNvPr>
          <p:cNvSpPr txBox="1"/>
          <p:nvPr/>
        </p:nvSpPr>
        <p:spPr>
          <a:xfrm>
            <a:off x="3816220" y="2752530"/>
            <a:ext cx="39092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2"/>
                </a:solidFill>
              </a:rPr>
              <a:t>THANK YOU</a:t>
            </a:r>
            <a:endParaRPr lang="en-IN" sz="6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4543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625</Words>
  <Application>Microsoft Office PowerPoint</Application>
  <PresentationFormat>Widescreen</PresentationFormat>
  <Paragraphs>137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veeneshwari R</cp:lastModifiedBy>
  <cp:revision>10</cp:revision>
  <dcterms:created xsi:type="dcterms:W3CDTF">2026-08-14T11:45:00Z</dcterms:created>
  <dcterms:modified xsi:type="dcterms:W3CDTF">2026-09-03T14:35:17Z</dcterms:modified>
</cp:coreProperties>
</file>